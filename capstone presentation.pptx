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7" r:id="rId12"/>
    <p:sldId id="268" r:id="rId13"/>
    <p:sldId id="269" r:id="rId14"/>
    <p:sldId id="266" r:id="rId15"/>
    <p:sldId id="274" r:id="rId16"/>
    <p:sldId id="275" r:id="rId17"/>
    <p:sldId id="271" r:id="rId18"/>
    <p:sldId id="273" r:id="rId19"/>
    <p:sldId id="276" r:id="rId20"/>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5.xml"/><Relationship Id="rId3" Type="http://schemas.openxmlformats.org/officeDocument/2006/relationships/image" Target="../media/image1.jpeg"/><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image" Target="../media/image2.png"/><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0.xml"/><Relationship Id="rId3" Type="http://schemas.openxmlformats.org/officeDocument/2006/relationships/image" Target="../media/image3.png"/><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84.xml"/><Relationship Id="rId5" Type="http://schemas.openxmlformats.org/officeDocument/2006/relationships/image" Target="../media/image4.png"/><Relationship Id="rId4" Type="http://schemas.openxmlformats.org/officeDocument/2006/relationships/tags" Target="../tags/tag83.xml"/><Relationship Id="rId3" Type="http://schemas.openxmlformats.org/officeDocument/2006/relationships/hyperlink" Target="https://en.wikipedia.org/w/index.php?title=List_of_Falcon_9_and_Falcon_Heavy_launches&amp;oldid=1027686922" TargetMode="External"/><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90.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tags" Target="../tags/tag89.xml"/><Relationship Id="rId1" Type="http://schemas.openxmlformats.org/officeDocument/2006/relationships/tags" Target="../tags/tag88.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95.xml"/><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00.xml"/><Relationship Id="rId5" Type="http://schemas.openxmlformats.org/officeDocument/2006/relationships/image" Target="../media/image11.png"/><Relationship Id="rId4" Type="http://schemas.openxmlformats.org/officeDocument/2006/relationships/tags" Target="../tags/tag99.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05.xml"/><Relationship Id="rId5" Type="http://schemas.openxmlformats.org/officeDocument/2006/relationships/image" Target="../media/image12.png"/><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11.xml"/><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tags" Target="../tags/tag110.xml"/><Relationship Id="rId1" Type="http://schemas.openxmlformats.org/officeDocument/2006/relationships/tags" Target="../tags/tag109.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14.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tags" Target="../tags/tag113.xml"/><Relationship Id="rId1" Type="http://schemas.openxmlformats.org/officeDocument/2006/relationships/tags" Target="../tags/tag112.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17.xml"/><Relationship Id="rId4" Type="http://schemas.openxmlformats.org/officeDocument/2006/relationships/image" Target="../media/image19.jpeg"/><Relationship Id="rId3" Type="http://schemas.openxmlformats.org/officeDocument/2006/relationships/image" Target="../media/image18.jpeg"/><Relationship Id="rId2" Type="http://schemas.openxmlformats.org/officeDocument/2006/relationships/tags" Target="../tags/tag116.xml"/><Relationship Id="rId1" Type="http://schemas.openxmlformats.org/officeDocument/2006/relationships/tags" Target="../tags/tag115.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0.xml"/><Relationship Id="rId3" Type="http://schemas.openxmlformats.org/officeDocument/2006/relationships/image" Target="../media/image20.png"/><Relationship Id="rId2" Type="http://schemas.openxmlformats.org/officeDocument/2006/relationships/tags" Target="../tags/tag119.xml"/><Relationship Id="rId1" Type="http://schemas.openxmlformats.org/officeDocument/2006/relationships/tags" Target="../tags/tag118.xml"/></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openxmlformats.org/officeDocument/2006/relationships/tags" Target="../tags/tag123.xml"/><Relationship Id="rId4" Type="http://schemas.openxmlformats.org/officeDocument/2006/relationships/image" Target="../media/image22.jpeg"/><Relationship Id="rId3" Type="http://schemas.openxmlformats.org/officeDocument/2006/relationships/image" Target="../media/image21.png"/><Relationship Id="rId2" Type="http://schemas.openxmlformats.org/officeDocument/2006/relationships/tags" Target="../tags/tag122.xml"/><Relationship Id="rId1" Type="http://schemas.openxmlformats.org/officeDocument/2006/relationships/tags" Target="../tags/tag121.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126.xml"/><Relationship Id="rId3" Type="http://schemas.openxmlformats.org/officeDocument/2006/relationships/image" Target="../media/image23.jpeg"/><Relationship Id="rId2" Type="http://schemas.openxmlformats.org/officeDocument/2006/relationships/tags" Target="../tags/tag125.xml"/><Relationship Id="rId1" Type="http://schemas.openxmlformats.org/officeDocument/2006/relationships/tags" Target="../tags/tag124.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129.xml"/><Relationship Id="rId3" Type="http://schemas.openxmlformats.org/officeDocument/2006/relationships/image" Target="../media/image24.jpeg"/><Relationship Id="rId2" Type="http://schemas.openxmlformats.org/officeDocument/2006/relationships/tags" Target="../tags/tag128.xml"/><Relationship Id="rId1" Type="http://schemas.openxmlformats.org/officeDocument/2006/relationships/tags" Target="../tags/tag127.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132.xml"/><Relationship Id="rId3" Type="http://schemas.openxmlformats.org/officeDocument/2006/relationships/image" Target="../media/image25.jpeg"/><Relationship Id="rId2" Type="http://schemas.openxmlformats.org/officeDocument/2006/relationships/tags" Target="../tags/tag131.xml"/><Relationship Id="rId1" Type="http://schemas.openxmlformats.org/officeDocument/2006/relationships/tags" Target="../tags/tag130.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135.xml"/><Relationship Id="rId3" Type="http://schemas.openxmlformats.org/officeDocument/2006/relationships/image" Target="../media/image26.jpeg"/><Relationship Id="rId2" Type="http://schemas.openxmlformats.org/officeDocument/2006/relationships/tags" Target="../tags/tag134.xml"/><Relationship Id="rId1" Type="http://schemas.openxmlformats.org/officeDocument/2006/relationships/tags" Target="../tags/tag133.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138.xml"/><Relationship Id="rId3" Type="http://schemas.openxmlformats.org/officeDocument/2006/relationships/image" Target="../media/image27.jpeg"/><Relationship Id="rId2" Type="http://schemas.openxmlformats.org/officeDocument/2006/relationships/tags" Target="../tags/tag137.xml"/><Relationship Id="rId1" Type="http://schemas.openxmlformats.org/officeDocument/2006/relationships/tags" Target="../tags/tag136.xml"/></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141.xml"/><Relationship Id="rId3" Type="http://schemas.openxmlformats.org/officeDocument/2006/relationships/image" Target="../media/image28.jpeg"/><Relationship Id="rId2" Type="http://schemas.openxmlformats.org/officeDocument/2006/relationships/tags" Target="../tags/tag140.xml"/><Relationship Id="rId1" Type="http://schemas.openxmlformats.org/officeDocument/2006/relationships/tags" Target="../tags/tag139.xm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144.xml"/><Relationship Id="rId3" Type="http://schemas.openxmlformats.org/officeDocument/2006/relationships/image" Target="../media/image29.jpeg"/><Relationship Id="rId2" Type="http://schemas.openxmlformats.org/officeDocument/2006/relationships/tags" Target="../tags/tag143.xml"/><Relationship Id="rId1" Type="http://schemas.openxmlformats.org/officeDocument/2006/relationships/tags" Target="../tags/tag142.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147.xml"/><Relationship Id="rId3" Type="http://schemas.openxmlformats.org/officeDocument/2006/relationships/image" Target="../media/image30.jpeg"/><Relationship Id="rId2" Type="http://schemas.openxmlformats.org/officeDocument/2006/relationships/tags" Target="../tags/tag146.xml"/><Relationship Id="rId1" Type="http://schemas.openxmlformats.org/officeDocument/2006/relationships/tags" Target="../tags/tag145.xm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150.xml"/><Relationship Id="rId3" Type="http://schemas.openxmlformats.org/officeDocument/2006/relationships/image" Target="../media/image31.jpeg"/><Relationship Id="rId2" Type="http://schemas.openxmlformats.org/officeDocument/2006/relationships/tags" Target="../tags/tag149.xml"/><Relationship Id="rId1" Type="http://schemas.openxmlformats.org/officeDocument/2006/relationships/tags" Target="../tags/tag148.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tags" Target="../tags/tag153.xml"/><Relationship Id="rId3" Type="http://schemas.openxmlformats.org/officeDocument/2006/relationships/image" Target="../media/image32.png"/><Relationship Id="rId2" Type="http://schemas.openxmlformats.org/officeDocument/2006/relationships/tags" Target="../tags/tag152.xml"/><Relationship Id="rId1" Type="http://schemas.openxmlformats.org/officeDocument/2006/relationships/tags" Target="../tags/tag151.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156.xml"/><Relationship Id="rId3" Type="http://schemas.openxmlformats.org/officeDocument/2006/relationships/image" Target="../media/image33.png"/><Relationship Id="rId2" Type="http://schemas.openxmlformats.org/officeDocument/2006/relationships/tags" Target="../tags/tag155.xml"/><Relationship Id="rId1" Type="http://schemas.openxmlformats.org/officeDocument/2006/relationships/tags" Target="../tags/tag154.xml"/></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159.xml"/><Relationship Id="rId3" Type="http://schemas.openxmlformats.org/officeDocument/2006/relationships/image" Target="../media/image34.jpeg"/><Relationship Id="rId2" Type="http://schemas.openxmlformats.org/officeDocument/2006/relationships/tags" Target="../tags/tag158.xml"/><Relationship Id="rId1" Type="http://schemas.openxmlformats.org/officeDocument/2006/relationships/tags" Target="../tags/tag157.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tags" Target="../tags/tag162.xml"/><Relationship Id="rId3" Type="http://schemas.openxmlformats.org/officeDocument/2006/relationships/image" Target="../media/image35.jpeg"/><Relationship Id="rId2" Type="http://schemas.openxmlformats.org/officeDocument/2006/relationships/tags" Target="../tags/tag161.xml"/><Relationship Id="rId1" Type="http://schemas.openxmlformats.org/officeDocument/2006/relationships/tags" Target="../tags/tag160.xml"/></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tags" Target="../tags/tag165.xml"/><Relationship Id="rId3" Type="http://schemas.openxmlformats.org/officeDocument/2006/relationships/image" Target="../media/image36.jpeg"/><Relationship Id="rId2" Type="http://schemas.openxmlformats.org/officeDocument/2006/relationships/tags" Target="../tags/tag164.xml"/><Relationship Id="rId1" Type="http://schemas.openxmlformats.org/officeDocument/2006/relationships/tags" Target="../tags/tag163.xml"/></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tags" Target="../tags/tag168.xml"/><Relationship Id="rId3" Type="http://schemas.openxmlformats.org/officeDocument/2006/relationships/image" Target="../media/image37.jpeg"/><Relationship Id="rId2" Type="http://schemas.openxmlformats.org/officeDocument/2006/relationships/tags" Target="../tags/tag167.xml"/><Relationship Id="rId1" Type="http://schemas.openxmlformats.org/officeDocument/2006/relationships/tags" Target="../tags/tag166.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endParaRPr lang="en-US"/>
          </a:p>
        </p:txBody>
      </p:sp>
      <p:sp>
        <p:nvSpPr>
          <p:cNvPr id="3" name="Subtitle 2"/>
          <p:cNvSpPr>
            <a:spLocks noGrp="1"/>
          </p:cNvSpPr>
          <p:nvPr>
            <p:ph type="subTitle" idx="1"/>
            <p:custDataLst>
              <p:tags r:id="rId2"/>
            </p:custDataLst>
          </p:nvPr>
        </p:nvSpPr>
        <p:spPr/>
        <p:txBody>
          <a:bodyPr/>
          <a:p>
            <a:endParaRPr lang="en-US"/>
          </a:p>
        </p:txBody>
      </p:sp>
      <p:pic>
        <p:nvPicPr>
          <p:cNvPr id="4" name="Picture 3" descr="SpaceX"/>
          <p:cNvPicPr>
            <a:picLocks noChangeAspect="1"/>
          </p:cNvPicPr>
          <p:nvPr/>
        </p:nvPicPr>
        <p:blipFill>
          <a:blip r:embed="rId3"/>
          <a:stretch>
            <a:fillRect/>
          </a:stretch>
        </p:blipFill>
        <p:spPr>
          <a:xfrm>
            <a:off x="554355" y="488950"/>
            <a:ext cx="11315700" cy="5821045"/>
          </a:xfrm>
          <a:prstGeom prst="rect">
            <a:avLst/>
          </a:prstGeom>
        </p:spPr>
      </p:pic>
      <p:sp>
        <p:nvSpPr>
          <p:cNvPr id="5" name="Text Box 4"/>
          <p:cNvSpPr txBox="1"/>
          <p:nvPr/>
        </p:nvSpPr>
        <p:spPr>
          <a:xfrm>
            <a:off x="907415" y="4102735"/>
            <a:ext cx="10090785" cy="1837690"/>
          </a:xfrm>
          <a:prstGeom prst="rect">
            <a:avLst/>
          </a:prstGeom>
          <a:noFill/>
        </p:spPr>
        <p:txBody>
          <a:bodyPr wrap="square" rtlCol="0">
            <a:noAutofit/>
          </a:bodyPr>
          <a:p>
            <a:r>
              <a:rPr lang="en-US" sz="3600">
                <a:solidFill>
                  <a:schemeClr val="bg2"/>
                </a:solidFill>
              </a:rPr>
              <a:t>IBM Applied Data Science Capstone Project</a:t>
            </a:r>
            <a:endParaRPr lang="en-US" sz="3600">
              <a:solidFill>
                <a:schemeClr val="bg2"/>
              </a:solidFill>
            </a:endParaRPr>
          </a:p>
          <a:p>
            <a:r>
              <a:rPr lang="en-US" sz="3600">
                <a:solidFill>
                  <a:schemeClr val="bg2"/>
                </a:solidFill>
              </a:rPr>
              <a:t>                                            Vikash Sharma</a:t>
            </a:r>
            <a:endParaRPr lang="en-US" sz="3600">
              <a:solidFill>
                <a:schemeClr val="bg2"/>
              </a:solidFill>
            </a:endParaRPr>
          </a:p>
          <a:p>
            <a:r>
              <a:rPr lang="en-US" sz="3600">
                <a:solidFill>
                  <a:schemeClr val="bg2"/>
                </a:solidFill>
              </a:rPr>
              <a:t>                                             Aug 9, 2026</a:t>
            </a:r>
            <a:endParaRPr lang="en-US" sz="3600">
              <a:solidFill>
                <a:schemeClr val="bg2"/>
              </a:solidFill>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descr="Lunch"/>
          <p:cNvPicPr>
            <a:picLocks noChangeAspect="1"/>
          </p:cNvPicPr>
          <p:nvPr>
            <p:ph idx="1"/>
            <p:custDataLst>
              <p:tags r:id="rId2"/>
            </p:custDataLst>
          </p:nvPr>
        </p:nvPicPr>
        <p:blipFill>
          <a:blip r:embed="rId3"/>
          <a:stretch>
            <a:fillRect/>
          </a:stretch>
        </p:blipFill>
        <p:spPr>
          <a:xfrm>
            <a:off x="-635" y="-635"/>
            <a:ext cx="12192635" cy="6858635"/>
          </a:xfrm>
          <a:prstGeom prst="rect">
            <a:avLst/>
          </a:prstGeom>
        </p:spPr>
      </p:pic>
      <p:sp>
        <p:nvSpPr>
          <p:cNvPr id="5" name="Text Box 4"/>
          <p:cNvSpPr txBox="1"/>
          <p:nvPr/>
        </p:nvSpPr>
        <p:spPr>
          <a:xfrm>
            <a:off x="259715" y="929005"/>
            <a:ext cx="4889500" cy="5680710"/>
          </a:xfrm>
          <a:prstGeom prst="rect">
            <a:avLst/>
          </a:prstGeom>
          <a:noFill/>
        </p:spPr>
        <p:txBody>
          <a:bodyPr wrap="square" rtlCol="0">
            <a:noAutofit/>
          </a:bodyPr>
          <a:p>
            <a:pPr algn="ctr"/>
            <a:r>
              <a:rPr lang="en-US" sz="4800">
                <a:solidFill>
                  <a:schemeClr val="bg2"/>
                </a:solidFill>
              </a:rPr>
              <a:t>OUTLINE</a:t>
            </a:r>
            <a:endParaRPr lang="en-US" sz="4800">
              <a:solidFill>
                <a:schemeClr val="bg2"/>
              </a:solidFill>
            </a:endParaRPr>
          </a:p>
          <a:p>
            <a:pPr algn="ctr"/>
            <a:endParaRPr lang="en-US" sz="4800">
              <a:solidFill>
                <a:schemeClr val="bg2"/>
              </a:solidFill>
            </a:endParaRPr>
          </a:p>
          <a:p>
            <a:pPr marL="342900" indent="-342900" algn="l">
              <a:buFont typeface="Wingdings" panose="05000000000000000000" charset="0"/>
              <a:buChar char="§"/>
            </a:pPr>
            <a:r>
              <a:rPr lang="en-US" sz="2400">
                <a:solidFill>
                  <a:schemeClr val="bg2"/>
                </a:solidFill>
              </a:rPr>
              <a:t>Executive Summary</a:t>
            </a:r>
            <a:endParaRPr lang="en-US" sz="2400">
              <a:solidFill>
                <a:schemeClr val="bg2"/>
              </a:solidFill>
            </a:endParaRPr>
          </a:p>
          <a:p>
            <a:pPr marL="342900" indent="-342900" algn="l">
              <a:buFont typeface="Wingdings" panose="05000000000000000000" charset="0"/>
              <a:buChar char="§"/>
            </a:pPr>
            <a:r>
              <a:rPr lang="en-US" sz="2400">
                <a:solidFill>
                  <a:schemeClr val="bg2"/>
                </a:solidFill>
              </a:rPr>
              <a:t>Introduction</a:t>
            </a:r>
            <a:endParaRPr lang="en-US" sz="2400">
              <a:solidFill>
                <a:schemeClr val="bg2"/>
              </a:solidFill>
            </a:endParaRPr>
          </a:p>
          <a:p>
            <a:pPr marL="342900" indent="-342900" algn="l">
              <a:buFont typeface="Wingdings" panose="05000000000000000000" charset="0"/>
              <a:buChar char="§"/>
            </a:pPr>
            <a:r>
              <a:rPr lang="en-US" sz="2400">
                <a:solidFill>
                  <a:schemeClr val="bg2"/>
                </a:solidFill>
              </a:rPr>
              <a:t>Methodology</a:t>
            </a:r>
            <a:endParaRPr lang="en-US" sz="2400">
              <a:solidFill>
                <a:schemeClr val="bg2"/>
              </a:solidFill>
            </a:endParaRPr>
          </a:p>
          <a:p>
            <a:pPr marL="342900" indent="-342900" algn="l">
              <a:buFont typeface="Wingdings" panose="05000000000000000000" charset="0"/>
              <a:buChar char="§"/>
            </a:pPr>
            <a:r>
              <a:rPr lang="en-US" sz="2400">
                <a:solidFill>
                  <a:schemeClr val="bg2"/>
                </a:solidFill>
              </a:rPr>
              <a:t>Results</a:t>
            </a:r>
            <a:endParaRPr lang="en-US" sz="2400">
              <a:solidFill>
                <a:schemeClr val="bg2"/>
              </a:solidFill>
            </a:endParaRPr>
          </a:p>
          <a:p>
            <a:pPr marL="342900" indent="-342900" algn="l">
              <a:buFont typeface="Wingdings" panose="05000000000000000000" charset="0"/>
              <a:buChar char="§"/>
            </a:pPr>
            <a:r>
              <a:rPr lang="en-US" sz="2400">
                <a:solidFill>
                  <a:schemeClr val="bg2"/>
                </a:solidFill>
              </a:rPr>
              <a:t>Discussion</a:t>
            </a:r>
            <a:endParaRPr lang="en-US" sz="2400">
              <a:solidFill>
                <a:schemeClr val="bg2"/>
              </a:solidFill>
            </a:endParaRPr>
          </a:p>
          <a:p>
            <a:pPr marL="342900" indent="-342900" algn="l">
              <a:buFont typeface="Wingdings" panose="05000000000000000000" charset="0"/>
              <a:buChar char="§"/>
            </a:pPr>
            <a:r>
              <a:rPr lang="en-US" sz="2400">
                <a:solidFill>
                  <a:schemeClr val="bg2"/>
                </a:solidFill>
              </a:rPr>
              <a:t>Conclusion</a:t>
            </a:r>
            <a:endParaRPr lang="en-US" sz="2400">
              <a:solidFill>
                <a:schemeClr val="bg2"/>
              </a:solidFill>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400" y="608400"/>
            <a:ext cx="10969200" cy="705600"/>
          </a:xfrm>
          <a:solidFill>
            <a:schemeClr val="bg2">
              <a:lumMod val="25000"/>
            </a:schemeClr>
          </a:solidFill>
        </p:spPr>
        <p:txBody>
          <a:bodyPr/>
          <a:p>
            <a:r>
              <a:rPr lang="en-US">
                <a:solidFill>
                  <a:schemeClr val="bg2"/>
                </a:solidFill>
              </a:rPr>
              <a:t>EXECUTIVE SUMMARY</a:t>
            </a:r>
            <a:endParaRPr lang="en-US">
              <a:solidFill>
                <a:schemeClr val="bg2"/>
              </a:solidFill>
            </a:endParaRPr>
          </a:p>
        </p:txBody>
      </p:sp>
      <p:sp>
        <p:nvSpPr>
          <p:cNvPr id="3" name="Content Placeholder 2"/>
          <p:cNvSpPr>
            <a:spLocks noGrp="1"/>
          </p:cNvSpPr>
          <p:nvPr>
            <p:ph idx="1"/>
            <p:custDataLst>
              <p:tags r:id="rId2"/>
            </p:custDataLst>
          </p:nvPr>
        </p:nvSpPr>
        <p:spPr/>
        <p:txBody>
          <a:bodyPr>
            <a:noAutofit/>
          </a:bodyPr>
          <a:p>
            <a:pPr>
              <a:buFont typeface="Arial" panose="020B0604020202020204" pitchFamily="34" charset="0"/>
              <a:buChar char="•"/>
            </a:pPr>
            <a:r>
              <a:rPr lang="en-US"/>
              <a:t>I</a:t>
            </a:r>
            <a:r>
              <a:rPr lang="en-US" altLang="en-US"/>
              <a:t> In this capstone project, we will predict if the SpaceX Falcon 9 first stage will land successfully using several machine learning classification algorithms.</a:t>
            </a:r>
            <a:endParaRPr lang="en-US" altLang="en-US"/>
          </a:p>
          <a:p>
            <a:pPr>
              <a:buFont typeface="Arial" panose="020B0604020202020204" pitchFamily="34" charset="0"/>
              <a:buChar char="•"/>
            </a:pPr>
            <a:r>
              <a:rPr lang="en-US" altLang="en-US"/>
              <a:t>The main steps in this project include:</a:t>
            </a:r>
            <a:endParaRPr lang="en-US" altLang="en-US"/>
          </a:p>
          <a:p>
            <a:pPr marL="0" indent="0">
              <a:buFont typeface="Arial" panose="020B0604020202020204" pitchFamily="34" charset="0"/>
              <a:buNone/>
            </a:pPr>
            <a:r>
              <a:rPr lang="en-US" altLang="en-US"/>
              <a:t>    • Data collection, wrangling, and formatting</a:t>
            </a:r>
            <a:endParaRPr lang="en-US" altLang="en-US"/>
          </a:p>
          <a:p>
            <a:pPr marL="0" indent="0">
              <a:buFont typeface="Arial" panose="020B0604020202020204" pitchFamily="34" charset="0"/>
              <a:buNone/>
            </a:pPr>
            <a:r>
              <a:rPr lang="en-US" altLang="en-US"/>
              <a:t>    • Exploratory data analysis</a:t>
            </a:r>
            <a:endParaRPr lang="en-US" altLang="en-US"/>
          </a:p>
          <a:p>
            <a:pPr marL="0" indent="0">
              <a:buFont typeface="Arial" panose="020B0604020202020204" pitchFamily="34" charset="0"/>
              <a:buNone/>
            </a:pPr>
            <a:r>
              <a:rPr lang="en-US" altLang="en-US"/>
              <a:t>    • Interactive data visualization</a:t>
            </a:r>
            <a:endParaRPr lang="en-US" altLang="en-US"/>
          </a:p>
          <a:p>
            <a:pPr marL="0" indent="0">
              <a:buFont typeface="Arial" panose="020B0604020202020204" pitchFamily="34" charset="0"/>
              <a:buNone/>
            </a:pPr>
            <a:r>
              <a:rPr lang="en-US" altLang="en-US"/>
              <a:t>    • Machine learning prediction</a:t>
            </a:r>
            <a:endParaRPr lang="en-US" altLang="en-US"/>
          </a:p>
          <a:p>
            <a:pPr>
              <a:buFont typeface="Arial" panose="020B0604020202020204" pitchFamily="34" charset="0"/>
              <a:buChar char="•"/>
            </a:pPr>
            <a:r>
              <a:rPr lang="en-US" altLang="en-US"/>
              <a:t> Our graphs show that some features of the rocket launches have a correlation with the outcome  of the launches, i.e., success or failure.</a:t>
            </a:r>
            <a:endParaRPr lang="en-US" altLang="en-US"/>
          </a:p>
          <a:p>
            <a:pPr>
              <a:buFont typeface="Arial" panose="020B0604020202020204" pitchFamily="34" charset="0"/>
              <a:buChar char="•"/>
            </a:pPr>
            <a:r>
              <a:rPr lang="en-US" altLang="en-US"/>
              <a:t> It is also concluded that decision tree may be the best machine learning algorithm to predict if the Falcon 9 first stage will land successfully</a:t>
            </a:r>
            <a:endParaRPr lang="en-US"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a:solidFill>
                  <a:schemeClr val="bg2"/>
                </a:solidFill>
              </a:rPr>
              <a:t>INTRODUCTION</a:t>
            </a:r>
            <a:endParaRPr lang="en-US">
              <a:solidFill>
                <a:schemeClr val="bg2"/>
              </a:solidFill>
            </a:endParaRPr>
          </a:p>
        </p:txBody>
      </p:sp>
      <p:sp>
        <p:nvSpPr>
          <p:cNvPr id="3" name="Content Placeholder 2"/>
          <p:cNvSpPr>
            <a:spLocks noGrp="1"/>
          </p:cNvSpPr>
          <p:nvPr>
            <p:ph idx="1"/>
            <p:custDataLst>
              <p:tags r:id="rId2"/>
            </p:custDataLst>
          </p:nvPr>
        </p:nvSpPr>
        <p:spPr/>
        <p:txBody>
          <a:bodyPr>
            <a:normAutofit fontScale="70000"/>
          </a:bodyPr>
          <a:p>
            <a:r>
              <a:rPr lang="en-MY" sz="2570" dirty="0">
                <a:solidFill>
                  <a:sysClr val="windowText" lastClr="000000"/>
                </a:solidFill>
                <a:latin typeface="Arial" panose="020B0604020202020204" pitchFamily="34" charset="0"/>
                <a:ea typeface="+mn-ea"/>
                <a:cs typeface="Arial" panose="020B0604020202020204" pitchFamily="34" charset="0"/>
                <a:sym typeface="+mn-ea"/>
              </a:rPr>
              <a:t>In this capstone, we will predict if the Falcon 9 first stage will land successfully. SpaceX advertises Falcon 9 rocket launches on its website with a cost of 62 million dollars; other providers cost upward of 165 million dollars each, much of the savings is because SpaceX can reuse the first stage. Therefore if we can determine if the first stage will land, we can determine the cost of a launch. This information can be used if an alternate company wants to bid against SpaceX for a rocket launch.</a:t>
            </a:r>
            <a:endParaRPr lang="en-MY" sz="2570" dirty="0">
              <a:latin typeface="Arial" panose="020B0604020202020204" pitchFamily="34" charset="0"/>
              <a:cs typeface="Arial" panose="020B0604020202020204" pitchFamily="34" charset="0"/>
            </a:endParaRPr>
          </a:p>
          <a:p>
            <a:r>
              <a:rPr lang="en-MY" sz="2570" dirty="0">
                <a:solidFill>
                  <a:sysClr val="windowText" lastClr="000000"/>
                </a:solidFill>
                <a:latin typeface="Arial" panose="020B0604020202020204" pitchFamily="34" charset="0"/>
                <a:ea typeface="+mn-ea"/>
                <a:cs typeface="Arial" panose="020B0604020202020204" pitchFamily="34" charset="0"/>
                <a:sym typeface="+mn-ea"/>
              </a:rPr>
              <a:t>Most unsuccessful landings are planned. Sometimes, SpaceX will perform a controlled landing in the ocean.</a:t>
            </a:r>
            <a:endParaRPr lang="en-MY" sz="2570" dirty="0">
              <a:latin typeface="Arial" panose="020B0604020202020204" pitchFamily="34" charset="0"/>
              <a:cs typeface="Arial" panose="020B0604020202020204" pitchFamily="34" charset="0"/>
            </a:endParaRPr>
          </a:p>
          <a:p>
            <a:r>
              <a:rPr lang="en-MY" sz="2570" dirty="0">
                <a:solidFill>
                  <a:sysClr val="windowText" lastClr="000000"/>
                </a:solidFill>
                <a:latin typeface="Arial" panose="020B0604020202020204" pitchFamily="34" charset="0"/>
                <a:ea typeface="+mn-ea"/>
                <a:cs typeface="Arial" panose="020B0604020202020204" pitchFamily="34" charset="0"/>
                <a:sym typeface="+mn-ea"/>
              </a:rPr>
              <a:t>The main question that we are trying to answer is, for a given set of features about a Falcon 9 rocket launch which include its payload mass, orbit type, launch site, and so on, will the first stage of the rocket land successfully?</a:t>
            </a:r>
            <a:endParaRPr lang="en-MY" sz="2570" dirty="0">
              <a:latin typeface="Arial" panose="020B0604020202020204" pitchFamily="34" charset="0"/>
              <a:cs typeface="Arial" panose="020B0604020202020204" pitchFamily="34" charset="0"/>
            </a:endParaRPr>
          </a:p>
          <a:p>
            <a:endParaRPr lang="en-US" sz="2570">
              <a:latin typeface="Arial" panose="020B0604020202020204" pitchFamily="34" charset="0"/>
              <a:cs typeface="Arial" panose="020B0604020202020204" pitchFamily="34" charset="0"/>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a:solidFill>
                  <a:schemeClr val="bg2"/>
                </a:solidFill>
              </a:rPr>
              <a:t>METHODOLOGY</a:t>
            </a:r>
            <a:endParaRPr lang="en-US">
              <a:solidFill>
                <a:schemeClr val="bg2"/>
              </a:solidFill>
            </a:endParaRPr>
          </a:p>
        </p:txBody>
      </p:sp>
      <p:sp>
        <p:nvSpPr>
          <p:cNvPr id="3" name="Content Placeholder 2"/>
          <p:cNvSpPr>
            <a:spLocks noGrp="1"/>
          </p:cNvSpPr>
          <p:nvPr>
            <p:ph idx="1"/>
            <p:custDataLst>
              <p:tags r:id="rId2"/>
            </p:custDataLst>
          </p:nvPr>
        </p:nvSpPr>
        <p:spPr>
          <a:xfrm>
            <a:off x="608330" y="1490345"/>
            <a:ext cx="10968990" cy="4827905"/>
          </a:xfrm>
        </p:spPr>
        <p:txBody>
          <a:bodyPr>
            <a:noAutofit/>
          </a:bodyPr>
          <a:p>
            <a:pPr marL="0" indent="0">
              <a:buNone/>
            </a:pPr>
            <a:r>
              <a:rPr lang="en-US" sz="1200" dirty="0">
                <a:latin typeface="Arial" panose="020B0604020202020204" pitchFamily="34" charset="0"/>
                <a:cs typeface="Arial" panose="020B0604020202020204" pitchFamily="34" charset="0"/>
                <a:sym typeface="+mn-ea"/>
              </a:rPr>
              <a:t>The overall methodology includes:</a:t>
            </a:r>
            <a:endParaRPr lang="en-US" sz="1200" dirty="0">
              <a:latin typeface="Arial" panose="020B0604020202020204" pitchFamily="34" charset="0"/>
              <a:cs typeface="Arial" panose="020B0604020202020204" pitchFamily="34" charset="0"/>
            </a:endParaRPr>
          </a:p>
          <a:p>
            <a:pPr marL="914400" lvl="1" indent="-457200">
              <a:buFont typeface="+mj-lt"/>
              <a:buAutoNum type="arabicPeriod"/>
            </a:pPr>
            <a:r>
              <a:rPr lang="en-US" sz="1200" dirty="0">
                <a:latin typeface="Arial" panose="020B0604020202020204" pitchFamily="34" charset="0"/>
                <a:cs typeface="Arial" panose="020B0604020202020204" pitchFamily="34" charset="0"/>
                <a:sym typeface="+mn-ea"/>
              </a:rPr>
              <a:t>Data collection, wrangling, and formatting, using:</a:t>
            </a:r>
            <a:endParaRPr lang="en-US" sz="1200" dirty="0">
              <a:latin typeface="Arial" panose="020B0604020202020204" pitchFamily="34" charset="0"/>
              <a:cs typeface="Arial" panose="020B0604020202020204" pitchFamily="34" charset="0"/>
            </a:endParaRPr>
          </a:p>
          <a:p>
            <a:pPr lvl="2"/>
            <a:r>
              <a:rPr lang="en-US" sz="1200" dirty="0">
                <a:latin typeface="Arial" panose="020B0604020202020204" pitchFamily="34" charset="0"/>
                <a:cs typeface="Arial" panose="020B0604020202020204" pitchFamily="34" charset="0"/>
                <a:sym typeface="+mn-ea"/>
              </a:rPr>
              <a:t>SpaceX API</a:t>
            </a:r>
            <a:endParaRPr lang="en-US" sz="1200" dirty="0">
              <a:latin typeface="Arial" panose="020B0604020202020204" pitchFamily="34" charset="0"/>
              <a:cs typeface="Arial" panose="020B0604020202020204" pitchFamily="34" charset="0"/>
            </a:endParaRPr>
          </a:p>
          <a:p>
            <a:pPr lvl="2"/>
            <a:r>
              <a:rPr lang="en-US" sz="1200" dirty="0">
                <a:latin typeface="Arial" panose="020B0604020202020204" pitchFamily="34" charset="0"/>
                <a:cs typeface="Arial" panose="020B0604020202020204" pitchFamily="34" charset="0"/>
                <a:sym typeface="+mn-ea"/>
              </a:rPr>
              <a:t>Web scraping</a:t>
            </a:r>
            <a:endParaRPr lang="en-US" sz="1200" dirty="0">
              <a:latin typeface="Arial" panose="020B0604020202020204" pitchFamily="34" charset="0"/>
              <a:cs typeface="Arial" panose="020B0604020202020204" pitchFamily="34" charset="0"/>
            </a:endParaRPr>
          </a:p>
          <a:p>
            <a:pPr marL="914400" lvl="1" indent="-457200">
              <a:buFont typeface="+mj-lt"/>
              <a:buAutoNum type="arabicPeriod"/>
            </a:pPr>
            <a:r>
              <a:rPr lang="en-US" sz="1200" dirty="0">
                <a:latin typeface="Arial" panose="020B0604020202020204" pitchFamily="34" charset="0"/>
                <a:cs typeface="Arial" panose="020B0604020202020204" pitchFamily="34" charset="0"/>
                <a:sym typeface="+mn-ea"/>
              </a:rPr>
              <a:t>Exploratory data analysis (EDA), using:</a:t>
            </a:r>
            <a:endParaRPr lang="en-US" sz="1200" dirty="0">
              <a:latin typeface="Arial" panose="020B0604020202020204" pitchFamily="34" charset="0"/>
              <a:cs typeface="Arial" panose="020B0604020202020204" pitchFamily="34" charset="0"/>
            </a:endParaRPr>
          </a:p>
          <a:p>
            <a:pPr lvl="2"/>
            <a:r>
              <a:rPr lang="en-US" sz="1200" dirty="0">
                <a:latin typeface="Arial" panose="020B0604020202020204" pitchFamily="34" charset="0"/>
                <a:cs typeface="Arial" panose="020B0604020202020204" pitchFamily="34" charset="0"/>
                <a:sym typeface="+mn-ea"/>
              </a:rPr>
              <a:t>Pandas and NumPy </a:t>
            </a:r>
            <a:endParaRPr lang="en-US" sz="1200" dirty="0">
              <a:latin typeface="Arial" panose="020B0604020202020204" pitchFamily="34" charset="0"/>
              <a:cs typeface="Arial" panose="020B0604020202020204" pitchFamily="34" charset="0"/>
            </a:endParaRPr>
          </a:p>
          <a:p>
            <a:pPr lvl="2"/>
            <a:r>
              <a:rPr lang="en-US" sz="1200" dirty="0">
                <a:latin typeface="Arial" panose="020B0604020202020204" pitchFamily="34" charset="0"/>
                <a:cs typeface="Arial" panose="020B0604020202020204" pitchFamily="34" charset="0"/>
                <a:sym typeface="+mn-ea"/>
              </a:rPr>
              <a:t>SQL</a:t>
            </a:r>
            <a:endParaRPr lang="en-US" sz="1200" dirty="0">
              <a:latin typeface="Arial" panose="020B0604020202020204" pitchFamily="34" charset="0"/>
              <a:cs typeface="Arial" panose="020B0604020202020204" pitchFamily="34" charset="0"/>
            </a:endParaRPr>
          </a:p>
          <a:p>
            <a:pPr marL="914400" lvl="1" indent="-457200">
              <a:buFont typeface="+mj-lt"/>
              <a:buAutoNum type="arabicPeriod"/>
            </a:pPr>
            <a:r>
              <a:rPr lang="en-US" sz="1200" dirty="0">
                <a:latin typeface="Arial" panose="020B0604020202020204" pitchFamily="34" charset="0"/>
                <a:cs typeface="Arial" panose="020B0604020202020204" pitchFamily="34" charset="0"/>
                <a:sym typeface="+mn-ea"/>
              </a:rPr>
              <a:t>Data visualization, using:</a:t>
            </a:r>
            <a:endParaRPr lang="en-US" sz="1200" dirty="0">
              <a:latin typeface="Arial" panose="020B0604020202020204" pitchFamily="34" charset="0"/>
              <a:cs typeface="Arial" panose="020B0604020202020204" pitchFamily="34" charset="0"/>
            </a:endParaRPr>
          </a:p>
          <a:p>
            <a:pPr lvl="2"/>
            <a:r>
              <a:rPr lang="en-US" sz="1200" dirty="0">
                <a:latin typeface="Arial" panose="020B0604020202020204" pitchFamily="34" charset="0"/>
                <a:cs typeface="Arial" panose="020B0604020202020204" pitchFamily="34" charset="0"/>
                <a:sym typeface="+mn-ea"/>
              </a:rPr>
              <a:t>Matplotlib and Seaborn</a:t>
            </a:r>
            <a:endParaRPr lang="en-US" sz="1200" dirty="0">
              <a:latin typeface="Arial" panose="020B0604020202020204" pitchFamily="34" charset="0"/>
              <a:cs typeface="Arial" panose="020B0604020202020204" pitchFamily="34" charset="0"/>
            </a:endParaRPr>
          </a:p>
          <a:p>
            <a:pPr lvl="2"/>
            <a:r>
              <a:rPr lang="en-US" sz="1200" dirty="0">
                <a:latin typeface="Arial" panose="020B0604020202020204" pitchFamily="34" charset="0"/>
                <a:cs typeface="Arial" panose="020B0604020202020204" pitchFamily="34" charset="0"/>
                <a:sym typeface="+mn-ea"/>
              </a:rPr>
              <a:t>Folium</a:t>
            </a:r>
            <a:endParaRPr lang="en-US" sz="1200" dirty="0">
              <a:latin typeface="Arial" panose="020B0604020202020204" pitchFamily="34" charset="0"/>
              <a:cs typeface="Arial" panose="020B0604020202020204" pitchFamily="34" charset="0"/>
            </a:endParaRPr>
          </a:p>
          <a:p>
            <a:pPr lvl="2"/>
            <a:r>
              <a:rPr lang="en-US" sz="1200" dirty="0">
                <a:latin typeface="Arial" panose="020B0604020202020204" pitchFamily="34" charset="0"/>
                <a:cs typeface="Arial" panose="020B0604020202020204" pitchFamily="34" charset="0"/>
                <a:sym typeface="+mn-ea"/>
              </a:rPr>
              <a:t>Dash</a:t>
            </a:r>
            <a:endParaRPr lang="en-US" sz="1200" dirty="0">
              <a:latin typeface="Arial" panose="020B0604020202020204" pitchFamily="34" charset="0"/>
              <a:cs typeface="Arial" panose="020B0604020202020204" pitchFamily="34" charset="0"/>
            </a:endParaRPr>
          </a:p>
          <a:p>
            <a:pPr marL="914400" lvl="1" indent="-457200">
              <a:buFont typeface="+mj-lt"/>
              <a:buAutoNum type="arabicPeriod"/>
            </a:pPr>
            <a:r>
              <a:rPr lang="en-US" sz="1200" dirty="0">
                <a:latin typeface="Arial" panose="020B0604020202020204" pitchFamily="34" charset="0"/>
                <a:cs typeface="Arial" panose="020B0604020202020204" pitchFamily="34" charset="0"/>
                <a:sym typeface="+mn-ea"/>
              </a:rPr>
              <a:t>Machine learning prediction, using</a:t>
            </a:r>
            <a:endParaRPr lang="en-US" sz="1200" dirty="0">
              <a:latin typeface="Arial" panose="020B0604020202020204" pitchFamily="34" charset="0"/>
              <a:cs typeface="Arial" panose="020B0604020202020204" pitchFamily="34" charset="0"/>
            </a:endParaRPr>
          </a:p>
          <a:p>
            <a:pPr lvl="2"/>
            <a:r>
              <a:rPr lang="en-US" sz="1200" dirty="0">
                <a:latin typeface="Arial" panose="020B0604020202020204" pitchFamily="34" charset="0"/>
                <a:cs typeface="Arial" panose="020B0604020202020204" pitchFamily="34" charset="0"/>
                <a:sym typeface="+mn-ea"/>
              </a:rPr>
              <a:t>Logistic regression</a:t>
            </a:r>
            <a:endParaRPr lang="en-US" sz="1200" dirty="0">
              <a:latin typeface="Arial" panose="020B0604020202020204" pitchFamily="34" charset="0"/>
              <a:cs typeface="Arial" panose="020B0604020202020204" pitchFamily="34" charset="0"/>
            </a:endParaRPr>
          </a:p>
          <a:p>
            <a:pPr lvl="2"/>
            <a:r>
              <a:rPr lang="en-US" sz="1200" dirty="0">
                <a:latin typeface="Arial" panose="020B0604020202020204" pitchFamily="34" charset="0"/>
                <a:cs typeface="Arial" panose="020B0604020202020204" pitchFamily="34" charset="0"/>
                <a:sym typeface="+mn-ea"/>
              </a:rPr>
              <a:t>Support vector machine (SVM)</a:t>
            </a:r>
            <a:endParaRPr lang="en-US" sz="1200" dirty="0">
              <a:latin typeface="Arial" panose="020B0604020202020204" pitchFamily="34" charset="0"/>
              <a:cs typeface="Arial" panose="020B0604020202020204" pitchFamily="34" charset="0"/>
            </a:endParaRPr>
          </a:p>
          <a:p>
            <a:pPr lvl="2"/>
            <a:r>
              <a:rPr lang="en-US" sz="1200" dirty="0">
                <a:latin typeface="Arial" panose="020B0604020202020204" pitchFamily="34" charset="0"/>
                <a:cs typeface="Arial" panose="020B0604020202020204" pitchFamily="34" charset="0"/>
                <a:sym typeface="+mn-ea"/>
              </a:rPr>
              <a:t>Decision tree</a:t>
            </a:r>
            <a:endParaRPr lang="en-US" sz="1200" dirty="0">
              <a:latin typeface="Arial" panose="020B0604020202020204" pitchFamily="34" charset="0"/>
              <a:cs typeface="Arial" panose="020B0604020202020204" pitchFamily="34" charset="0"/>
            </a:endParaRPr>
          </a:p>
          <a:p>
            <a:pPr lvl="2"/>
            <a:r>
              <a:rPr lang="en-US" sz="1200" dirty="0">
                <a:latin typeface="Arial" panose="020B0604020202020204" pitchFamily="34" charset="0"/>
                <a:cs typeface="Arial" panose="020B0604020202020204" pitchFamily="34" charset="0"/>
                <a:sym typeface="+mn-ea"/>
              </a:rPr>
              <a:t>K-nearest neighbors (KNN)</a:t>
            </a:r>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style>
          <a:lnRef idx="0">
            <a:srgbClr val="FFFFFF"/>
          </a:lnRef>
          <a:fillRef idx="1">
            <a:prstClr val="black"/>
          </a:fillRef>
          <a:effectRef idx="0">
            <a:srgbClr val="FFFFFF"/>
          </a:effectRef>
          <a:fontRef idx="minor">
            <a:schemeClr val="lt1"/>
          </a:fontRef>
        </p:style>
        <p:txBody>
          <a:bodyPr>
            <a:normAutofit fontScale="90000"/>
          </a:bodyPr>
          <a:p>
            <a:pPr fontAlgn="t"/>
            <a:r>
              <a:rPr lang="en-US" sz="2220"/>
              <a:t>METHODOLOGY </a:t>
            </a:r>
            <a:br>
              <a:rPr lang="en-US" sz="2220">
                <a:solidFill>
                  <a:schemeClr val="tx1"/>
                </a:solidFill>
              </a:rPr>
            </a:br>
            <a:r>
              <a:rPr lang="en-US" sz="2220"/>
              <a:t>       Data collection, wrangling and formating          </a:t>
            </a:r>
            <a:endParaRPr lang="en-US" sz="2220">
              <a:solidFill>
                <a:schemeClr val="accent6"/>
              </a:solidFill>
            </a:endParaRPr>
          </a:p>
        </p:txBody>
      </p:sp>
      <p:sp>
        <p:nvSpPr>
          <p:cNvPr id="3" name="Content Placeholder 2"/>
          <p:cNvSpPr>
            <a:spLocks noGrp="1"/>
          </p:cNvSpPr>
          <p:nvPr>
            <p:ph idx="1"/>
            <p:custDataLst>
              <p:tags r:id="rId2"/>
            </p:custDataLst>
          </p:nvPr>
        </p:nvSpPr>
        <p:spPr/>
        <p:txBody>
          <a:bodyPr/>
          <a:p>
            <a:r>
              <a:rPr lang="en-US" sz="1200" dirty="0"/>
              <a:t>IBM Static URL</a:t>
            </a:r>
            <a:endParaRPr lang="en-US" sz="1200" dirty="0"/>
          </a:p>
          <a:p>
            <a:pPr lvl="1"/>
            <a:r>
              <a:rPr lang="en-US" sz="1200" dirty="0">
                <a:sym typeface="+mn-ea"/>
              </a:rPr>
              <a:t>The static url used provide by IBM </a:t>
            </a:r>
            <a:r>
              <a:rPr lang="en-US" altLang="en-US" sz="1200" dirty="0">
                <a:sym typeface="+mn-ea"/>
              </a:rPr>
              <a:t>DS0321EN</a:t>
            </a:r>
            <a:endParaRPr lang="en-US" altLang="en-US" sz="1200" dirty="0">
              <a:sym typeface="+mn-ea"/>
            </a:endParaRPr>
          </a:p>
          <a:p>
            <a:pPr lvl="1"/>
            <a:r>
              <a:rPr lang="en-MY" sz="1200" dirty="0">
                <a:sym typeface="+mn-ea"/>
              </a:rPr>
              <a:t>The </a:t>
            </a:r>
            <a:r>
              <a:rPr lang="en-US" altLang="en-MY" sz="1200" dirty="0">
                <a:sym typeface="+mn-ea"/>
              </a:rPr>
              <a:t>URL </a:t>
            </a:r>
            <a:r>
              <a:rPr lang="en-MY" sz="1200" dirty="0">
                <a:sym typeface="+mn-ea"/>
              </a:rPr>
              <a:t>provides data about many types of rocket launches done by SpaceX, the data is therefore filtered to include only Falcon 9 launches.</a:t>
            </a:r>
            <a:endParaRPr lang="en-MY" sz="1200" dirty="0"/>
          </a:p>
          <a:p>
            <a:pPr lvl="1"/>
            <a:r>
              <a:rPr lang="en-MY" sz="1200" dirty="0">
                <a:sym typeface="+mn-ea"/>
              </a:rPr>
              <a:t>Every missing value in the data is replaced the mean </a:t>
            </a:r>
            <a:r>
              <a:rPr lang="en-US" sz="1200" dirty="0">
                <a:sym typeface="+mn-ea"/>
              </a:rPr>
              <a:t>the column that the missing value belongs to. </a:t>
            </a:r>
            <a:endParaRPr lang="en-US" sz="1200" dirty="0"/>
          </a:p>
          <a:p>
            <a:pPr lvl="1"/>
            <a:r>
              <a:rPr lang="en-US" sz="1200" dirty="0">
                <a:sym typeface="+mn-ea"/>
              </a:rPr>
              <a:t>We end up with 98 rows or instances and 17 columns or features. The picture below shows the first few rows of the data:</a:t>
            </a:r>
            <a:endParaRPr lang="en-US" sz="1200" dirty="0"/>
          </a:p>
          <a:p>
            <a:endParaRPr lang="en-US" sz="1200"/>
          </a:p>
        </p:txBody>
      </p:sp>
      <p:pic>
        <p:nvPicPr>
          <p:cNvPr id="9" name="Picture 8" descr="img_1"/>
          <p:cNvPicPr>
            <a:picLocks noChangeAspect="1"/>
          </p:cNvPicPr>
          <p:nvPr/>
        </p:nvPicPr>
        <p:blipFill>
          <a:blip r:embed="rId3"/>
          <a:stretch>
            <a:fillRect/>
          </a:stretch>
        </p:blipFill>
        <p:spPr>
          <a:xfrm>
            <a:off x="1475740" y="3429000"/>
            <a:ext cx="9118600" cy="3099435"/>
          </a:xfrm>
          <a:prstGeom prst="rect">
            <a:avLst/>
          </a:prstGeom>
        </p:spPr>
      </p:pic>
      <p:sp>
        <p:nvSpPr>
          <p:cNvPr id="10" name="Oval 9"/>
          <p:cNvSpPr/>
          <p:nvPr/>
        </p:nvSpPr>
        <p:spPr>
          <a:xfrm>
            <a:off x="751205" y="972185"/>
            <a:ext cx="457200" cy="34163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      </a:t>
            </a:r>
            <a:endParaRPr lang="en-US"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3" name="Content Placeholder 2"/>
          <p:cNvSpPr>
            <a:spLocks noGrp="1"/>
          </p:cNvSpPr>
          <p:nvPr>
            <p:ph idx="1"/>
            <p:custDataLst>
              <p:tags r:id="rId2"/>
            </p:custDataLst>
          </p:nvPr>
        </p:nvSpPr>
        <p:spPr/>
        <p:txBody>
          <a:bodyPr/>
          <a:p>
            <a:r>
              <a:rPr lang="en-US"/>
              <a:t>    </a:t>
            </a:r>
            <a:r>
              <a:rPr lang="en-US" sz="1600"/>
              <a:t>Web Scraping</a:t>
            </a:r>
            <a:endParaRPr lang="en-US" sz="1600"/>
          </a:p>
          <a:p>
            <a:pPr lvl="1"/>
            <a:r>
              <a:rPr lang="en-US" sz="1600" dirty="0">
                <a:sym typeface="+mn-ea"/>
              </a:rPr>
              <a:t>The data is scraped from  </a:t>
            </a:r>
            <a:r>
              <a:rPr lang="en-US" altLang="en-US" sz="1600" dirty="0">
                <a:sym typeface="+mn-ea"/>
                <a:hlinkClick r:id="rId3" action="ppaction://hlinkfile"/>
              </a:rPr>
              <a:t>https://en.wikipedia.org/w/index.php?title=List_of_Falcon_9_and_Falcon_Heavy_launches&amp;oldid=1027686922</a:t>
            </a:r>
            <a:endParaRPr lang="en-US" altLang="en-US" sz="1600" dirty="0">
              <a:sym typeface="+mn-ea"/>
            </a:endParaRPr>
          </a:p>
          <a:p>
            <a:pPr lvl="1"/>
            <a:r>
              <a:rPr lang="en-MY" sz="1600" dirty="0">
                <a:sym typeface="+mn-ea"/>
              </a:rPr>
              <a:t>The website contains only the data about Falcon 9 launches.</a:t>
            </a:r>
            <a:endParaRPr lang="en-MY" sz="1600" dirty="0"/>
          </a:p>
          <a:p>
            <a:pPr lvl="1"/>
            <a:r>
              <a:rPr lang="en-US" sz="1600" dirty="0">
                <a:sym typeface="+mn-ea"/>
              </a:rPr>
              <a:t>We end up with 121 rows or instances and 11 columns or features. The picture below shows the first few rows of the data:</a:t>
            </a:r>
            <a:endParaRPr lang="en-US" sz="1600" dirty="0"/>
          </a:p>
          <a:p>
            <a:pPr marL="0" indent="0">
              <a:buNone/>
            </a:pPr>
            <a:endParaRPr lang="en-US" sz="1600"/>
          </a:p>
        </p:txBody>
      </p:sp>
      <p:sp>
        <p:nvSpPr>
          <p:cNvPr id="4" name="Title 1"/>
          <p:cNvSpPr>
            <a:spLocks noGrp="1"/>
          </p:cNvSpPr>
          <p:nvPr>
            <p:custDataLst>
              <p:tags r:id="rId4"/>
            </p:custDataLst>
          </p:nvPr>
        </p:nvSpPr>
        <p:spPr>
          <a:xfrm>
            <a:off x="735400" y="735400"/>
            <a:ext cx="10969200" cy="705600"/>
          </a:xfrm>
          <a:prstGeom prst="rect">
            <a:avLst/>
          </a:prstGeom>
        </p:spPr>
        <p:style>
          <a:lnRef idx="0">
            <a:srgbClr val="FFFFFF"/>
          </a:lnRef>
          <a:fillRef idx="1">
            <a:prstClr val="black"/>
          </a:fillRef>
          <a:effectRef idx="0">
            <a:srgbClr val="FFFFFF"/>
          </a:effectRef>
          <a:fontRef idx="minor">
            <a:schemeClr val="lt1"/>
          </a:fontRef>
        </p:style>
        <p:txBody>
          <a:bodyPr vert="horz" lIns="90000" tIns="46800" rIns="90000" bIns="46800" rtlCol="0" anchor="ctr" anchorCtr="0">
            <a:normAutofit fontScale="90000"/>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lt1"/>
                </a:solidFill>
                <a:uFillTx/>
                <a:latin typeface="+mj-lt"/>
                <a:ea typeface="+mj-ea"/>
                <a:cs typeface="+mj-cs"/>
              </a:defRPr>
            </a:lvl1pPr>
          </a:lstStyle>
          <a:p>
            <a:pPr fontAlgn="t"/>
            <a:r>
              <a:rPr lang="en-US" sz="2220"/>
              <a:t>METHODOLOGY </a:t>
            </a:r>
            <a:br>
              <a:rPr lang="en-US" sz="2220">
                <a:solidFill>
                  <a:schemeClr val="tx1"/>
                </a:solidFill>
              </a:rPr>
            </a:br>
            <a:r>
              <a:rPr lang="en-US" sz="2220"/>
              <a:t>      Data collection, wrangling and formating          </a:t>
            </a:r>
            <a:endParaRPr lang="en-US" sz="2220">
              <a:solidFill>
                <a:schemeClr val="accent6"/>
              </a:solidFill>
            </a:endParaRPr>
          </a:p>
        </p:txBody>
      </p:sp>
      <p:pic>
        <p:nvPicPr>
          <p:cNvPr id="6" name="Picture 5" descr="img_2"/>
          <p:cNvPicPr>
            <a:picLocks noChangeAspect="1"/>
          </p:cNvPicPr>
          <p:nvPr/>
        </p:nvPicPr>
        <p:blipFill>
          <a:blip r:embed="rId5"/>
          <a:stretch>
            <a:fillRect/>
          </a:stretch>
        </p:blipFill>
        <p:spPr>
          <a:xfrm>
            <a:off x="735330" y="3900170"/>
            <a:ext cx="11493500" cy="2534920"/>
          </a:xfrm>
          <a:prstGeom prst="rect">
            <a:avLst/>
          </a:prstGeom>
        </p:spPr>
      </p:pic>
      <p:sp>
        <p:nvSpPr>
          <p:cNvPr id="9" name="Oval 8"/>
          <p:cNvSpPr/>
          <p:nvPr/>
        </p:nvSpPr>
        <p:spPr>
          <a:xfrm>
            <a:off x="914911" y="105834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      </a:t>
            </a:r>
            <a:endParaRPr lang="en-US" dirty="0"/>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rmAutofit fontScale="90000"/>
          </a:bodyPr>
          <a:p>
            <a:r>
              <a:rPr lang="en-US" sz="2220">
                <a:solidFill>
                  <a:schemeClr val="bg2"/>
                </a:solidFill>
                <a:sym typeface="+mn-ea"/>
              </a:rPr>
              <a:t>METHODOLOGY </a:t>
            </a:r>
            <a:br>
              <a:rPr lang="en-US" sz="2220">
                <a:solidFill>
                  <a:schemeClr val="bg2"/>
                </a:solidFill>
                <a:sym typeface="+mn-ea"/>
              </a:rPr>
            </a:br>
            <a:r>
              <a:rPr lang="en-US" sz="2220">
                <a:solidFill>
                  <a:schemeClr val="bg2"/>
                </a:solidFill>
                <a:sym typeface="+mn-ea"/>
              </a:rPr>
              <a:t>      Data collection, wrangling and formating</a:t>
            </a:r>
            <a:r>
              <a:rPr lang="en-US" sz="1780">
                <a:solidFill>
                  <a:schemeClr val="bg2"/>
                </a:solidFill>
                <a:sym typeface="+mn-ea"/>
              </a:rPr>
              <a:t> </a:t>
            </a:r>
            <a:r>
              <a:rPr lang="en-US">
                <a:sym typeface="+mn-ea"/>
              </a:rPr>
              <a:t>        </a:t>
            </a:r>
            <a:endParaRPr lang="en-US"/>
          </a:p>
        </p:txBody>
      </p:sp>
      <p:sp>
        <p:nvSpPr>
          <p:cNvPr id="3" name="Content Placeholder 2"/>
          <p:cNvSpPr>
            <a:spLocks noGrp="1"/>
          </p:cNvSpPr>
          <p:nvPr>
            <p:ph idx="1"/>
            <p:custDataLst>
              <p:tags r:id="rId2"/>
            </p:custDataLst>
          </p:nvPr>
        </p:nvSpPr>
        <p:spPr/>
        <p:txBody>
          <a:bodyPr>
            <a:normAutofit lnSpcReduction="10000"/>
          </a:bodyPr>
          <a:p>
            <a:endParaRPr lang="en-US"/>
          </a:p>
          <a:p>
            <a:endParaRPr lang="en-US"/>
          </a:p>
          <a:p>
            <a:r>
              <a:rPr lang="en-US" dirty="0">
                <a:sym typeface="+mn-ea"/>
              </a:rPr>
              <a:t>The data is later processed so that there are no missing entries and categorical features are encoded using one-hot encoding.</a:t>
            </a:r>
            <a:endParaRPr lang="en-US" dirty="0"/>
          </a:p>
          <a:p>
            <a:r>
              <a:rPr lang="en-US" dirty="0">
                <a:sym typeface="+mn-ea"/>
              </a:rPr>
              <a:t>An extra column called ‘Class’ is also added to the data frame. The column ‘Class’ contains 0 if a given launch is failed and 1 if it is successful.</a:t>
            </a:r>
            <a:endParaRPr lang="en-US" dirty="0"/>
          </a:p>
          <a:p>
            <a:r>
              <a:rPr lang="en-US" dirty="0">
                <a:sym typeface="+mn-ea"/>
              </a:rPr>
              <a:t>In the end, we end up with 90 rows or instances and 83 columns or features.</a:t>
            </a:r>
            <a:endParaRPr lang="en-US" dirty="0"/>
          </a:p>
          <a:p>
            <a:endParaRPr lang="en-US"/>
          </a:p>
        </p:txBody>
      </p:sp>
      <p:sp>
        <p:nvSpPr>
          <p:cNvPr id="9" name="Oval 8"/>
          <p:cNvSpPr/>
          <p:nvPr/>
        </p:nvSpPr>
        <p:spPr>
          <a:xfrm>
            <a:off x="840616"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      </a:t>
            </a:r>
            <a:endParaRPr lang="en-US" dirty="0"/>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Autofit/>
          </a:bodyPr>
          <a:p>
            <a:r>
              <a:rPr lang="en-US" sz="2400" b="1" dirty="0">
                <a:solidFill>
                  <a:schemeClr val="bg2"/>
                </a:solidFill>
                <a:latin typeface="Tw Cen MT Condensed" panose="020B0606020104020203" pitchFamily="34" charset="77"/>
                <a:sym typeface="+mn-ea"/>
              </a:rPr>
              <a:t>METHODOLOGY</a:t>
            </a:r>
            <a:br>
              <a:rPr lang="en-US" sz="2400" b="1" dirty="0">
                <a:solidFill>
                  <a:schemeClr val="bg2"/>
                </a:solidFill>
                <a:latin typeface="Tw Cen MT Condensed" panose="020B0606020104020203" pitchFamily="34" charset="77"/>
              </a:rPr>
            </a:br>
            <a:r>
              <a:rPr lang="en-US" sz="2400" b="1" dirty="0">
                <a:solidFill>
                  <a:schemeClr val="bg2"/>
                </a:solidFill>
                <a:latin typeface="Tw Cen MT Condensed" panose="020B0606020104020203" pitchFamily="34" charset="77"/>
                <a:sym typeface="+mn-ea"/>
              </a:rPr>
              <a:t>    </a:t>
            </a:r>
            <a:r>
              <a:rPr lang="en-US" sz="2400">
                <a:solidFill>
                  <a:schemeClr val="bg2"/>
                </a:solidFill>
                <a:sym typeface="+mn-ea"/>
              </a:rPr>
              <a:t>    </a:t>
            </a:r>
            <a:r>
              <a:rPr lang="en-US" sz="2400" b="1" dirty="0">
                <a:solidFill>
                  <a:schemeClr val="bg2"/>
                </a:solidFill>
                <a:latin typeface="Tw Cen MT Condensed" panose="020B0606020104020203" pitchFamily="34" charset="77"/>
                <a:sym typeface="+mn-ea"/>
              </a:rPr>
              <a:t>   Exploratory Data Analysis (EDA)</a:t>
            </a:r>
            <a:endParaRPr lang="en-US" sz="2400" b="1" dirty="0">
              <a:solidFill>
                <a:schemeClr val="bg2"/>
              </a:solidFill>
              <a:latin typeface="Tw Cen MT Condensed" panose="020B0606020104020203" pitchFamily="34" charset="77"/>
              <a:sym typeface="+mn-ea"/>
            </a:endParaRPr>
          </a:p>
        </p:txBody>
      </p:sp>
      <p:sp>
        <p:nvSpPr>
          <p:cNvPr id="3" name="Content Placeholder 2"/>
          <p:cNvSpPr>
            <a:spLocks noGrp="1"/>
          </p:cNvSpPr>
          <p:nvPr>
            <p:ph idx="1"/>
            <p:custDataLst>
              <p:tags r:id="rId2"/>
            </p:custDataLst>
          </p:nvPr>
        </p:nvSpPr>
        <p:spPr/>
        <p:txBody>
          <a:bodyPr>
            <a:normAutofit/>
          </a:bodyPr>
          <a:p>
            <a:r>
              <a:rPr lang="en-US" sz="1600" dirty="0">
                <a:sym typeface="+mn-ea"/>
              </a:rPr>
              <a:t>Pandas and NumPy</a:t>
            </a:r>
            <a:endParaRPr lang="en-US" sz="1600" dirty="0"/>
          </a:p>
          <a:p>
            <a:pPr lvl="1"/>
            <a:r>
              <a:rPr lang="en-US" sz="1600" dirty="0">
                <a:sym typeface="+mn-ea"/>
              </a:rPr>
              <a:t>Functions from the Pandas and NumPy libraries are used to derive basic information about the data collected, which includes:</a:t>
            </a:r>
            <a:endParaRPr lang="en-US" sz="1600" dirty="0"/>
          </a:p>
          <a:p>
            <a:pPr lvl="2"/>
            <a:r>
              <a:rPr lang="en-US" sz="1600" dirty="0">
                <a:sym typeface="+mn-ea"/>
              </a:rPr>
              <a:t>The number of launches on each launch site</a:t>
            </a:r>
            <a:endParaRPr lang="en-US" sz="1600" dirty="0"/>
          </a:p>
          <a:p>
            <a:pPr lvl="2"/>
            <a:r>
              <a:rPr lang="en-US" sz="1600" dirty="0">
                <a:sym typeface="+mn-ea"/>
              </a:rPr>
              <a:t>The number of occurrence of each orbit</a:t>
            </a:r>
            <a:endParaRPr lang="en-US" sz="1600" dirty="0"/>
          </a:p>
          <a:p>
            <a:pPr lvl="2"/>
            <a:r>
              <a:rPr lang="en-US" sz="1600" dirty="0">
                <a:sym typeface="+mn-ea"/>
              </a:rPr>
              <a:t>The number and occurrence of each mission outcome</a:t>
            </a:r>
            <a:endParaRPr lang="en-US" sz="1600" dirty="0"/>
          </a:p>
          <a:p>
            <a:r>
              <a:rPr lang="en-US" sz="1600" dirty="0">
                <a:sym typeface="+mn-ea"/>
              </a:rPr>
              <a:t>SQL</a:t>
            </a:r>
            <a:endParaRPr lang="en-US" sz="1600" dirty="0"/>
          </a:p>
          <a:p>
            <a:pPr lvl="1"/>
            <a:r>
              <a:rPr lang="en-US" sz="1600" dirty="0">
                <a:sym typeface="+mn-ea"/>
              </a:rPr>
              <a:t>The data is queried using SQL to answer several questions </a:t>
            </a:r>
            <a:endParaRPr lang="en-US" sz="1600" dirty="0">
              <a:sym typeface="+mn-ea"/>
            </a:endParaRPr>
          </a:p>
          <a:p>
            <a:pPr marL="457200" lvl="1" indent="0">
              <a:buNone/>
            </a:pPr>
            <a:r>
              <a:rPr lang="en-US" sz="1600" dirty="0">
                <a:sym typeface="+mn-ea"/>
              </a:rPr>
              <a:t>   about the data such as:</a:t>
            </a:r>
            <a:endParaRPr lang="en-US" sz="1600" dirty="0"/>
          </a:p>
          <a:p>
            <a:pPr lvl="2"/>
            <a:r>
              <a:rPr lang="en-US" sz="1600" dirty="0">
                <a:sym typeface="+mn-ea"/>
              </a:rPr>
              <a:t>The names of the unique launch sites in the space mission</a:t>
            </a:r>
            <a:endParaRPr lang="en-US" sz="1600" dirty="0"/>
          </a:p>
          <a:p>
            <a:pPr lvl="2"/>
            <a:r>
              <a:rPr lang="en-US" sz="1600" dirty="0">
                <a:sym typeface="+mn-ea"/>
              </a:rPr>
              <a:t>The total payload mass carried by boosters launched by NASA (CRS)</a:t>
            </a:r>
            <a:endParaRPr lang="en-US" sz="1600" dirty="0"/>
          </a:p>
          <a:p>
            <a:pPr lvl="2"/>
            <a:r>
              <a:rPr lang="en-US" sz="1600" dirty="0">
                <a:sym typeface="+mn-ea"/>
              </a:rPr>
              <a:t>The average payload mass carried by booster version F9 v1.1</a:t>
            </a:r>
            <a:endParaRPr lang="en-US" sz="1600" dirty="0"/>
          </a:p>
          <a:p>
            <a:endParaRPr lang="en-US" sz="160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3005" y="1313682"/>
            <a:ext cx="2182424" cy="88206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NumPy - Wikipedi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3052" y="2358234"/>
            <a:ext cx="2182424" cy="982091"/>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How to calculate quartiles in SQL (descriptive statistics, SQL, statistics)  - Quor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9368" y="3980167"/>
            <a:ext cx="1489792" cy="779916"/>
          </a:xfrm>
          <a:prstGeom prst="rect">
            <a:avLst/>
          </a:prstGeom>
          <a:noFill/>
          <a:extLst>
            <a:ext uri="{909E8E84-426E-40DD-AFC4-6F175D3DCCD1}">
              <a14:hiddenFill xmlns:a14="http://schemas.microsoft.com/office/drawing/2010/main">
                <a:solidFill>
                  <a:srgbClr val="FFFFFF"/>
                </a:solidFill>
              </a14:hiddenFill>
            </a:ext>
          </a:extLst>
        </p:spPr>
      </p:pic>
      <p:sp>
        <p:nvSpPr>
          <p:cNvPr id="17" name="Oval 16"/>
          <p:cNvSpPr/>
          <p:nvPr/>
        </p:nvSpPr>
        <p:spPr>
          <a:xfrm>
            <a:off x="956186"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US" dirty="0"/>
          </a:p>
        </p:txBody>
      </p:sp>
    </p:spTree>
    <p:custDataLst>
      <p:tags r:id="rId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4" name="Title 1"/>
          <p:cNvSpPr>
            <a:spLocks noGrp="1"/>
          </p:cNvSpPr>
          <p:nvPr>
            <p:custDataLst>
              <p:tags r:id="rId2"/>
            </p:custDataLst>
          </p:nvPr>
        </p:nvSpPr>
        <p:spPr>
          <a:xfrm>
            <a:off x="608400" y="735400"/>
            <a:ext cx="10969200" cy="705600"/>
          </a:xfrm>
          <a:prstGeom prst="rect">
            <a:avLst/>
          </a:prstGeom>
          <a:solidFill>
            <a:schemeClr val="tx1"/>
          </a:solidFill>
        </p:spPr>
        <p:txBody>
          <a:bodyPr vert="horz" lIns="90000" tIns="46800" rIns="90000" bIns="46800" rtlCol="0" anchor="ctr" anchorCtr="0">
            <a:no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sz="2400" b="1" dirty="0">
                <a:solidFill>
                  <a:schemeClr val="bg2"/>
                </a:solidFill>
                <a:latin typeface="Tw Cen MT Condensed" panose="020B0606020104020203" pitchFamily="34" charset="77"/>
                <a:sym typeface="+mn-ea"/>
              </a:rPr>
              <a:t>METHODOLOGY</a:t>
            </a:r>
            <a:br>
              <a:rPr lang="en-US" sz="2400" b="1" dirty="0">
                <a:solidFill>
                  <a:schemeClr val="bg2"/>
                </a:solidFill>
                <a:latin typeface="Tw Cen MT Condensed" panose="020B0606020104020203" pitchFamily="34" charset="77"/>
              </a:rPr>
            </a:br>
            <a:r>
              <a:rPr lang="en-US" sz="2400" b="1" dirty="0">
                <a:solidFill>
                  <a:schemeClr val="bg2"/>
                </a:solidFill>
                <a:latin typeface="Tw Cen MT Condensed" panose="020B0606020104020203" pitchFamily="34" charset="77"/>
                <a:sym typeface="+mn-ea"/>
              </a:rPr>
              <a:t>    </a:t>
            </a:r>
            <a:r>
              <a:rPr lang="en-US" sz="2400">
                <a:solidFill>
                  <a:schemeClr val="bg2"/>
                </a:solidFill>
                <a:sym typeface="+mn-ea"/>
              </a:rPr>
              <a:t> </a:t>
            </a:r>
            <a:r>
              <a:rPr lang="en-US" sz="2400" b="1" dirty="0">
                <a:solidFill>
                  <a:schemeClr val="bg2"/>
                </a:solidFill>
                <a:latin typeface="Tw Cen MT Condensed" panose="020B0606020104020203" pitchFamily="34" charset="77"/>
                <a:sym typeface="+mn-ea"/>
              </a:rPr>
              <a:t>   </a:t>
            </a:r>
            <a:r>
              <a:rPr lang="en-US" sz="2400">
                <a:solidFill>
                  <a:schemeClr val="bg2"/>
                </a:solidFill>
                <a:sym typeface="+mn-ea"/>
              </a:rPr>
              <a:t>   </a:t>
            </a:r>
            <a:r>
              <a:rPr lang="en-US" sz="2400">
                <a:solidFill>
                  <a:schemeClr val="bg2"/>
                </a:solidFill>
                <a:sym typeface="+mn-ea"/>
              </a:rPr>
              <a:t>   </a:t>
            </a:r>
            <a:r>
              <a:rPr lang="en-US" sz="2400" b="1" dirty="0">
                <a:solidFill>
                  <a:schemeClr val="bg2"/>
                </a:solidFill>
                <a:latin typeface="Tw Cen MT Condensed" panose="020B0606020104020203" pitchFamily="34" charset="77"/>
                <a:sym typeface="+mn-ea"/>
              </a:rPr>
              <a:t>   </a:t>
            </a:r>
            <a:endParaRPr lang="en-US" sz="2400" b="1" dirty="0">
              <a:solidFill>
                <a:schemeClr val="bg2"/>
              </a:solidFill>
              <a:latin typeface="Tw Cen MT Condensed" panose="020B0606020104020203" pitchFamily="34" charset="77"/>
              <a:sym typeface="+mn-ea"/>
            </a:endParaRPr>
          </a:p>
        </p:txBody>
      </p:sp>
      <p:sp>
        <p:nvSpPr>
          <p:cNvPr id="5" name="Title 1"/>
          <p:cNvSpPr>
            <a:spLocks noGrp="1"/>
          </p:cNvSpPr>
          <p:nvPr>
            <p:custDataLst>
              <p:tags r:id="rId3"/>
            </p:custDataLst>
          </p:nvPr>
        </p:nvSpPr>
        <p:spPr>
          <a:xfrm>
            <a:off x="608400" y="735400"/>
            <a:ext cx="10969200" cy="705600"/>
          </a:xfrm>
          <a:prstGeom prst="rect">
            <a:avLst/>
          </a:prstGeom>
        </p:spPr>
        <p:style>
          <a:lnRef idx="2">
            <a:schemeClr val="accent1"/>
          </a:lnRef>
          <a:fillRef idx="0">
            <a:srgbClr val="FFFFFF"/>
          </a:fillRef>
          <a:effectRef idx="0">
            <a:srgbClr val="FFFFFF"/>
          </a:effectRef>
          <a:fontRef idx="minor">
            <a:schemeClr val="tx1"/>
          </a:fontRef>
        </p:style>
        <p:txBody>
          <a:bodyPr vert="horz" lIns="90000" tIns="46800" rIns="90000" bIns="46800" rtlCol="0" anchor="ctr" anchorCtr="0">
            <a:no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sz="2400" b="1" dirty="0">
                <a:solidFill>
                  <a:schemeClr val="bg2"/>
                </a:solidFill>
                <a:latin typeface="Tw Cen MT Condensed" panose="020B0606020104020203" pitchFamily="34" charset="77"/>
                <a:sym typeface="+mn-ea"/>
              </a:rPr>
              <a:t>METHODOLOGY</a:t>
            </a:r>
            <a:endParaRPr lang="en-US" sz="2400" b="1" dirty="0">
              <a:solidFill>
                <a:schemeClr val="bg2"/>
              </a:solidFill>
              <a:latin typeface="Tw Cen MT Condensed" panose="020B0606020104020203" pitchFamily="34" charset="77"/>
              <a:sym typeface="+mn-ea"/>
            </a:endParaRPr>
          </a:p>
          <a:p>
            <a:r>
              <a:rPr lang="en-US" sz="2400" b="1" dirty="0">
                <a:solidFill>
                  <a:schemeClr val="bg2"/>
                </a:solidFill>
                <a:latin typeface="Tw Cen MT Condensed" panose="020B0606020104020203" pitchFamily="34" charset="77"/>
                <a:sym typeface="+mn-ea"/>
              </a:rPr>
              <a:t>       Data Visualization</a:t>
            </a:r>
            <a:endParaRPr lang="en-US" sz="2400" b="1" dirty="0">
              <a:solidFill>
                <a:schemeClr val="bg2"/>
              </a:solidFill>
              <a:latin typeface="Tw Cen MT Condensed" panose="020B0606020104020203" pitchFamily="34" charset="77"/>
              <a:sym typeface="+mn-ea"/>
            </a:endParaRPr>
          </a:p>
        </p:txBody>
      </p:sp>
      <p:sp>
        <p:nvSpPr>
          <p:cNvPr id="18" name="Oval 17"/>
          <p:cNvSpPr/>
          <p:nvPr/>
        </p:nvSpPr>
        <p:spPr>
          <a:xfrm>
            <a:off x="843791" y="1008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US" dirty="0"/>
          </a:p>
        </p:txBody>
      </p:sp>
      <p:sp>
        <p:nvSpPr>
          <p:cNvPr id="12" name="Content Placeholder 11"/>
          <p:cNvSpPr/>
          <p:nvPr>
            <p:ph idx="1"/>
            <p:custDataLst>
              <p:tags r:id="rId4"/>
            </p:custDataLst>
          </p:nvPr>
        </p:nvSpPr>
        <p:spPr/>
        <p:txBody>
          <a:bodyPr>
            <a:noAutofit/>
          </a:bodyPr>
          <a:p>
            <a:r>
              <a:rPr lang="en-US" sz="1300" dirty="0">
                <a:sym typeface="+mn-ea"/>
              </a:rPr>
              <a:t>Matplotlib and Seaborn</a:t>
            </a:r>
            <a:endParaRPr lang="en-US" sz="1300" dirty="0"/>
          </a:p>
          <a:p>
            <a:pPr lvl="1"/>
            <a:r>
              <a:rPr lang="en-US" sz="1300" dirty="0">
                <a:sym typeface="+mn-ea"/>
              </a:rPr>
              <a:t>Functions from the Matplotlib and Seaborn libraries are used to visualize the ‘       </a:t>
            </a:r>
            <a:endParaRPr lang="en-US" sz="1300" dirty="0">
              <a:sym typeface="+mn-ea"/>
            </a:endParaRPr>
          </a:p>
          <a:p>
            <a:pPr lvl="1"/>
            <a:r>
              <a:rPr lang="en-US" sz="1300" dirty="0">
                <a:sym typeface="+mn-ea"/>
              </a:rPr>
              <a:t>data through scatterplots, bar charts, and line charts.</a:t>
            </a:r>
            <a:endParaRPr lang="en-US" sz="1300" dirty="0"/>
          </a:p>
          <a:p>
            <a:pPr lvl="1"/>
            <a:r>
              <a:rPr lang="en-US" sz="1300" dirty="0">
                <a:sym typeface="+mn-ea"/>
              </a:rPr>
              <a:t>The plots and charts are used to understand more about the relationships between </a:t>
            </a:r>
            <a:endParaRPr lang="en-US" sz="1300" dirty="0">
              <a:sym typeface="+mn-ea"/>
            </a:endParaRPr>
          </a:p>
          <a:p>
            <a:pPr marL="457200" lvl="1" indent="0">
              <a:buNone/>
            </a:pPr>
            <a:r>
              <a:rPr lang="en-US" sz="1300" dirty="0">
                <a:sym typeface="+mn-ea"/>
              </a:rPr>
              <a:t>    several features, such as:</a:t>
            </a:r>
            <a:endParaRPr lang="en-US" sz="1300" dirty="0"/>
          </a:p>
          <a:p>
            <a:pPr lvl="2"/>
            <a:r>
              <a:rPr lang="en-US" sz="1300" dirty="0">
                <a:sym typeface="+mn-ea"/>
              </a:rPr>
              <a:t>The relationship between flight number and launch site</a:t>
            </a:r>
            <a:endParaRPr lang="en-US" sz="1300" dirty="0"/>
          </a:p>
          <a:p>
            <a:pPr lvl="2"/>
            <a:r>
              <a:rPr lang="en-US" sz="1300" dirty="0">
                <a:sym typeface="+mn-ea"/>
              </a:rPr>
              <a:t>The relationship between payload mass and launch site</a:t>
            </a:r>
            <a:endParaRPr lang="en-US" sz="1300" dirty="0"/>
          </a:p>
          <a:p>
            <a:pPr lvl="2"/>
            <a:r>
              <a:rPr lang="en-US" sz="1300" dirty="0">
                <a:sym typeface="+mn-ea"/>
              </a:rPr>
              <a:t>The relationship between success rate and orbit type</a:t>
            </a:r>
            <a:endParaRPr lang="en-US" sz="1300" dirty="0"/>
          </a:p>
          <a:p>
            <a:r>
              <a:rPr lang="en-US" sz="1300" dirty="0">
                <a:sym typeface="+mn-ea"/>
              </a:rPr>
              <a:t>Folium</a:t>
            </a:r>
            <a:endParaRPr lang="en-US" sz="1300" dirty="0"/>
          </a:p>
          <a:p>
            <a:pPr lvl="1"/>
            <a:r>
              <a:rPr lang="en-US" sz="1300" dirty="0">
                <a:sym typeface="+mn-ea"/>
              </a:rPr>
              <a:t>Functions from the Folium libraries are used to visualize the data through interactive maps.</a:t>
            </a:r>
            <a:endParaRPr lang="en-US" sz="1300" dirty="0"/>
          </a:p>
          <a:p>
            <a:pPr lvl="1"/>
            <a:r>
              <a:rPr lang="en-US" sz="1300" dirty="0">
                <a:sym typeface="+mn-ea"/>
              </a:rPr>
              <a:t> The Folium library is used to:</a:t>
            </a:r>
            <a:endParaRPr lang="en-US" sz="1300" dirty="0"/>
          </a:p>
          <a:p>
            <a:pPr lvl="2"/>
            <a:r>
              <a:rPr lang="en-US" sz="1300" dirty="0">
                <a:sym typeface="+mn-ea"/>
              </a:rPr>
              <a:t>Mark all launch sites on a map</a:t>
            </a:r>
            <a:endParaRPr lang="en-US" sz="1300" dirty="0"/>
          </a:p>
          <a:p>
            <a:pPr lvl="2"/>
            <a:r>
              <a:rPr lang="en-US" sz="1300" dirty="0">
                <a:sym typeface="+mn-ea"/>
              </a:rPr>
              <a:t>Mark the succeeded launches and failed launches for each site on the map</a:t>
            </a:r>
            <a:endParaRPr lang="en-US" sz="1300" dirty="0"/>
          </a:p>
          <a:p>
            <a:pPr lvl="2"/>
            <a:r>
              <a:rPr lang="en-US" sz="1300" dirty="0">
                <a:sym typeface="+mn-ea"/>
              </a:rPr>
              <a:t>Mark the distances between a launch site to its proximities such as the nearest city, railway, or highway</a:t>
            </a:r>
            <a:endParaRPr lang="en-US" sz="1300" dirty="0"/>
          </a:p>
          <a:p>
            <a:endParaRPr lang="en-US" sz="900" dirty="0"/>
          </a:p>
        </p:txBody>
      </p:sp>
      <p:pic>
        <p:nvPicPr>
          <p:cNvPr id="13" name="Picture 10" descr="What libraries can load image in Python and what are their difference? | by  Kevin Luk | Towards Data Scienc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7830" y="2006600"/>
            <a:ext cx="2114550" cy="77343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76194" y="3274562"/>
            <a:ext cx="2046032" cy="61955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Folium Library | Geospatial visualization via Folium Library"/>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0818" y="4516501"/>
            <a:ext cx="2352982" cy="90548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8"/>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4" name="Title 1"/>
          <p:cNvSpPr>
            <a:spLocks noGrp="1"/>
          </p:cNvSpPr>
          <p:nvPr>
            <p:custDataLst>
              <p:tags r:id="rId2"/>
            </p:custDataLst>
          </p:nvPr>
        </p:nvSpPr>
        <p:spPr>
          <a:xfrm>
            <a:off x="608400" y="735400"/>
            <a:ext cx="10969200" cy="705600"/>
          </a:xfrm>
          <a:prstGeom prst="rect">
            <a:avLst/>
          </a:prstGeom>
          <a:solidFill>
            <a:schemeClr val="tx1"/>
          </a:solidFill>
        </p:spPr>
        <p:txBody>
          <a:bodyPr vert="horz" lIns="90000" tIns="46800" rIns="90000" bIns="46800" rtlCol="0" anchor="ctr" anchorCtr="0">
            <a:no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sz="2400" b="1" dirty="0">
                <a:solidFill>
                  <a:schemeClr val="bg2"/>
                </a:solidFill>
                <a:latin typeface="Tw Cen MT Condensed" panose="020B0606020104020203" pitchFamily="34" charset="77"/>
                <a:sym typeface="+mn-ea"/>
              </a:rPr>
              <a:t>METHODOLOGY</a:t>
            </a:r>
            <a:br>
              <a:rPr lang="en-US" sz="2400" b="1" dirty="0">
                <a:solidFill>
                  <a:schemeClr val="bg2"/>
                </a:solidFill>
                <a:latin typeface="Tw Cen MT Condensed" panose="020B0606020104020203" pitchFamily="34" charset="77"/>
              </a:rPr>
            </a:br>
            <a:r>
              <a:rPr lang="en-US" sz="2400" b="1" dirty="0">
                <a:solidFill>
                  <a:schemeClr val="bg2"/>
                </a:solidFill>
                <a:latin typeface="Tw Cen MT Condensed" panose="020B0606020104020203" pitchFamily="34" charset="77"/>
                <a:sym typeface="+mn-ea"/>
              </a:rPr>
              <a:t>    </a:t>
            </a:r>
            <a:r>
              <a:rPr lang="en-US" sz="2400">
                <a:solidFill>
                  <a:schemeClr val="bg2"/>
                </a:solidFill>
                <a:sym typeface="+mn-ea"/>
              </a:rPr>
              <a:t> </a:t>
            </a:r>
            <a:r>
              <a:rPr lang="en-US" sz="2400" b="1" dirty="0">
                <a:solidFill>
                  <a:schemeClr val="bg2"/>
                </a:solidFill>
                <a:latin typeface="Tw Cen MT Condensed" panose="020B0606020104020203" pitchFamily="34" charset="77"/>
                <a:sym typeface="+mn-ea"/>
              </a:rPr>
              <a:t>   </a:t>
            </a:r>
            <a:r>
              <a:rPr lang="en-US" sz="2400">
                <a:solidFill>
                  <a:schemeClr val="bg2"/>
                </a:solidFill>
                <a:sym typeface="+mn-ea"/>
              </a:rPr>
              <a:t>   </a:t>
            </a:r>
            <a:r>
              <a:rPr lang="en-US" sz="2400">
                <a:solidFill>
                  <a:schemeClr val="bg2"/>
                </a:solidFill>
                <a:sym typeface="+mn-ea"/>
              </a:rPr>
              <a:t>   </a:t>
            </a:r>
            <a:r>
              <a:rPr lang="en-US" sz="2400" b="1" dirty="0">
                <a:solidFill>
                  <a:schemeClr val="bg2"/>
                </a:solidFill>
                <a:latin typeface="Tw Cen MT Condensed" panose="020B0606020104020203" pitchFamily="34" charset="77"/>
                <a:sym typeface="+mn-ea"/>
              </a:rPr>
              <a:t>   </a:t>
            </a:r>
            <a:endParaRPr lang="en-US" sz="2400" b="1" dirty="0">
              <a:solidFill>
                <a:schemeClr val="bg2"/>
              </a:solidFill>
              <a:latin typeface="Tw Cen MT Condensed" panose="020B0606020104020203" pitchFamily="34" charset="77"/>
              <a:sym typeface="+mn-ea"/>
            </a:endParaRPr>
          </a:p>
        </p:txBody>
      </p:sp>
      <p:sp>
        <p:nvSpPr>
          <p:cNvPr id="5" name="Title 1"/>
          <p:cNvSpPr>
            <a:spLocks noGrp="1"/>
          </p:cNvSpPr>
          <p:nvPr>
            <p:custDataLst>
              <p:tags r:id="rId3"/>
            </p:custDataLst>
          </p:nvPr>
        </p:nvSpPr>
        <p:spPr>
          <a:xfrm>
            <a:off x="608400" y="735400"/>
            <a:ext cx="10969200" cy="705600"/>
          </a:xfrm>
          <a:prstGeom prst="rect">
            <a:avLst/>
          </a:prstGeom>
        </p:spPr>
        <p:style>
          <a:lnRef idx="2">
            <a:schemeClr val="accent1"/>
          </a:lnRef>
          <a:fillRef idx="0">
            <a:srgbClr val="FFFFFF"/>
          </a:fillRef>
          <a:effectRef idx="0">
            <a:srgbClr val="FFFFFF"/>
          </a:effectRef>
          <a:fontRef idx="minor">
            <a:schemeClr val="tx1"/>
          </a:fontRef>
        </p:style>
        <p:txBody>
          <a:bodyPr vert="horz" lIns="90000" tIns="46800" rIns="90000" bIns="46800" rtlCol="0" anchor="ctr" anchorCtr="0">
            <a:no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sz="2400" b="1" dirty="0">
                <a:solidFill>
                  <a:schemeClr val="bg2"/>
                </a:solidFill>
                <a:latin typeface="Tw Cen MT Condensed" panose="020B0606020104020203" pitchFamily="34" charset="77"/>
                <a:sym typeface="+mn-ea"/>
              </a:rPr>
              <a:t>     </a:t>
            </a:r>
            <a:endParaRPr lang="en-US" sz="2400" b="1" dirty="0">
              <a:solidFill>
                <a:schemeClr val="bg2"/>
              </a:solidFill>
              <a:latin typeface="Tw Cen MT Condensed" panose="020B0606020104020203" pitchFamily="34" charset="77"/>
              <a:sym typeface="+mn-ea"/>
            </a:endParaRPr>
          </a:p>
          <a:p>
            <a:r>
              <a:rPr lang="en-US" sz="2400" b="1" dirty="0">
                <a:solidFill>
                  <a:schemeClr val="bg2"/>
                </a:solidFill>
                <a:latin typeface="Tw Cen MT Condensed" panose="020B0606020104020203" pitchFamily="34" charset="77"/>
                <a:sym typeface="+mn-ea"/>
              </a:rPr>
              <a:t>         Data Visualization</a:t>
            </a:r>
            <a:endParaRPr lang="en-US" sz="2400" b="1" dirty="0">
              <a:solidFill>
                <a:schemeClr val="bg2"/>
              </a:solidFill>
              <a:latin typeface="Tw Cen MT Condensed" panose="020B0606020104020203" pitchFamily="34" charset="77"/>
              <a:sym typeface="+mn-ea"/>
            </a:endParaRPr>
          </a:p>
        </p:txBody>
      </p:sp>
      <p:sp>
        <p:nvSpPr>
          <p:cNvPr id="18" name="Oval 17"/>
          <p:cNvSpPr/>
          <p:nvPr/>
        </p:nvSpPr>
        <p:spPr>
          <a:xfrm>
            <a:off x="843791" y="105834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US" dirty="0"/>
          </a:p>
        </p:txBody>
      </p:sp>
      <p:sp>
        <p:nvSpPr>
          <p:cNvPr id="12" name="Content Placeholder 11"/>
          <p:cNvSpPr/>
          <p:nvPr>
            <p:ph idx="1"/>
            <p:custDataLst>
              <p:tags r:id="rId4"/>
            </p:custDataLst>
          </p:nvPr>
        </p:nvSpPr>
        <p:spPr/>
        <p:txBody>
          <a:bodyPr>
            <a:noAutofit/>
          </a:bodyPr>
          <a:p>
            <a:r>
              <a:rPr lang="en-US" sz="1800" dirty="0">
                <a:sym typeface="+mn-ea"/>
              </a:rPr>
              <a:t>Dash</a:t>
            </a:r>
            <a:endParaRPr lang="en-US" sz="1800" dirty="0"/>
          </a:p>
          <a:p>
            <a:pPr lvl="1"/>
            <a:r>
              <a:rPr lang="en-US" sz="1800" dirty="0">
                <a:sym typeface="+mn-ea"/>
              </a:rPr>
              <a:t>Functions from Dash are used to generate an interactive site where we can toggle the input using a dropdown menu and a range slider.</a:t>
            </a:r>
            <a:endParaRPr lang="en-US" sz="1800" dirty="0"/>
          </a:p>
          <a:p>
            <a:pPr lvl="1"/>
            <a:r>
              <a:rPr lang="en-US" sz="1800" dirty="0">
                <a:sym typeface="+mn-ea"/>
              </a:rPr>
              <a:t>Using a pie chart and a scatterplot, the interactive site shows:</a:t>
            </a:r>
            <a:endParaRPr lang="en-US" sz="1800" dirty="0"/>
          </a:p>
          <a:p>
            <a:pPr lvl="2"/>
            <a:r>
              <a:rPr lang="en-US" sz="1800" dirty="0">
                <a:sym typeface="+mn-ea"/>
              </a:rPr>
              <a:t>The total success launches from each launch site</a:t>
            </a:r>
            <a:endParaRPr lang="en-US" sz="1800" dirty="0"/>
          </a:p>
          <a:p>
            <a:pPr lvl="2"/>
            <a:r>
              <a:rPr lang="en-US" sz="1800" dirty="0">
                <a:sym typeface="+mn-ea"/>
              </a:rPr>
              <a:t>The correlation between payload mass and mission outcome </a:t>
            </a:r>
            <a:endParaRPr lang="en-US" sz="1800" dirty="0">
              <a:sym typeface="+mn-ea"/>
            </a:endParaRPr>
          </a:p>
          <a:p>
            <a:pPr marL="914400" lvl="2" indent="0">
              <a:buNone/>
            </a:pPr>
            <a:r>
              <a:rPr lang="en-US" sz="1800" dirty="0">
                <a:sym typeface="+mn-ea"/>
              </a:rPr>
              <a:t>   (success or failure) for each launch site</a:t>
            </a:r>
            <a:endParaRPr lang="en-US" sz="1800" dirty="0"/>
          </a:p>
        </p:txBody>
      </p:sp>
      <p:pic>
        <p:nvPicPr>
          <p:cNvPr id="9218" name="Picture 2" descr="dash-logo-300 - Probytes Web Development Compan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50976" y="3970679"/>
            <a:ext cx="2150807" cy="215080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4" name="Title 1"/>
          <p:cNvSpPr>
            <a:spLocks noGrp="1"/>
          </p:cNvSpPr>
          <p:nvPr>
            <p:custDataLst>
              <p:tags r:id="rId2"/>
            </p:custDataLst>
          </p:nvPr>
        </p:nvSpPr>
        <p:spPr>
          <a:xfrm>
            <a:off x="608400" y="735400"/>
            <a:ext cx="10969200" cy="705600"/>
          </a:xfrm>
          <a:prstGeom prst="rect">
            <a:avLst/>
          </a:prstGeom>
          <a:solidFill>
            <a:schemeClr val="tx1"/>
          </a:solidFill>
        </p:spPr>
        <p:txBody>
          <a:bodyPr vert="horz" lIns="90000" tIns="46800" rIns="90000" bIns="46800" rtlCol="0" anchor="ctr" anchorCtr="0">
            <a:no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sz="2400" b="1" dirty="0">
                <a:solidFill>
                  <a:schemeClr val="bg2"/>
                </a:solidFill>
                <a:latin typeface="Tw Cen MT Condensed" panose="020B0606020104020203" pitchFamily="34" charset="77"/>
                <a:sym typeface="+mn-ea"/>
              </a:rPr>
              <a:t>METHODOLOGY</a:t>
            </a:r>
            <a:br>
              <a:rPr lang="en-US" sz="2400" b="1" dirty="0">
                <a:solidFill>
                  <a:schemeClr val="bg2"/>
                </a:solidFill>
                <a:latin typeface="Tw Cen MT Condensed" panose="020B0606020104020203" pitchFamily="34" charset="77"/>
              </a:rPr>
            </a:br>
            <a:r>
              <a:rPr lang="en-US" sz="2400" b="1" dirty="0">
                <a:solidFill>
                  <a:schemeClr val="bg2"/>
                </a:solidFill>
                <a:latin typeface="Tw Cen MT Condensed" panose="020B0606020104020203" pitchFamily="34" charset="77"/>
                <a:sym typeface="+mn-ea"/>
              </a:rPr>
              <a:t>    </a:t>
            </a:r>
            <a:r>
              <a:rPr lang="en-US" sz="2400">
                <a:solidFill>
                  <a:schemeClr val="bg2"/>
                </a:solidFill>
                <a:sym typeface="+mn-ea"/>
              </a:rPr>
              <a:t> </a:t>
            </a:r>
            <a:r>
              <a:rPr lang="en-US" sz="2400" b="1" dirty="0">
                <a:solidFill>
                  <a:schemeClr val="bg2"/>
                </a:solidFill>
                <a:latin typeface="Tw Cen MT Condensed" panose="020B0606020104020203" pitchFamily="34" charset="77"/>
                <a:sym typeface="+mn-ea"/>
              </a:rPr>
              <a:t>   </a:t>
            </a:r>
            <a:r>
              <a:rPr lang="en-US" sz="2400">
                <a:solidFill>
                  <a:schemeClr val="bg2"/>
                </a:solidFill>
                <a:sym typeface="+mn-ea"/>
              </a:rPr>
              <a:t>   </a:t>
            </a:r>
            <a:r>
              <a:rPr lang="en-US" sz="2400">
                <a:solidFill>
                  <a:schemeClr val="bg2"/>
                </a:solidFill>
                <a:sym typeface="+mn-ea"/>
              </a:rPr>
              <a:t>   </a:t>
            </a:r>
            <a:r>
              <a:rPr lang="en-US" sz="2400" b="1" dirty="0">
                <a:solidFill>
                  <a:schemeClr val="bg2"/>
                </a:solidFill>
                <a:latin typeface="Tw Cen MT Condensed" panose="020B0606020104020203" pitchFamily="34" charset="77"/>
                <a:sym typeface="+mn-ea"/>
              </a:rPr>
              <a:t>   </a:t>
            </a:r>
            <a:endParaRPr lang="en-US" sz="2400" b="1" dirty="0">
              <a:solidFill>
                <a:schemeClr val="bg2"/>
              </a:solidFill>
              <a:latin typeface="Tw Cen MT Condensed" panose="020B0606020104020203" pitchFamily="34" charset="77"/>
              <a:sym typeface="+mn-ea"/>
            </a:endParaRPr>
          </a:p>
        </p:txBody>
      </p:sp>
      <p:sp>
        <p:nvSpPr>
          <p:cNvPr id="5" name="Title 1"/>
          <p:cNvSpPr>
            <a:spLocks noGrp="1"/>
          </p:cNvSpPr>
          <p:nvPr>
            <p:custDataLst>
              <p:tags r:id="rId3"/>
            </p:custDataLst>
          </p:nvPr>
        </p:nvSpPr>
        <p:spPr>
          <a:xfrm>
            <a:off x="608400" y="735400"/>
            <a:ext cx="10969200" cy="705600"/>
          </a:xfrm>
          <a:prstGeom prst="rect">
            <a:avLst/>
          </a:prstGeom>
        </p:spPr>
        <p:style>
          <a:lnRef idx="2">
            <a:schemeClr val="accent1"/>
          </a:lnRef>
          <a:fillRef idx="0">
            <a:srgbClr val="FFFFFF"/>
          </a:fillRef>
          <a:effectRef idx="0">
            <a:srgbClr val="FFFFFF"/>
          </a:effectRef>
          <a:fontRef idx="minor">
            <a:schemeClr val="tx1"/>
          </a:fontRef>
        </p:style>
        <p:txBody>
          <a:bodyPr vert="horz" lIns="90000" tIns="46800" rIns="90000" bIns="46800" rtlCol="0" anchor="ctr" anchorCtr="0">
            <a:no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en-US" sz="2400" b="1" dirty="0">
                <a:solidFill>
                  <a:schemeClr val="bg2"/>
                </a:solidFill>
                <a:latin typeface="Tw Cen MT Condensed" panose="020B0606020104020203" pitchFamily="34" charset="77"/>
                <a:sym typeface="+mn-ea"/>
              </a:rPr>
              <a:t>METHODOLOGY</a:t>
            </a:r>
            <a:endParaRPr lang="en-US" sz="2400" b="1" dirty="0">
              <a:solidFill>
                <a:schemeClr val="bg2"/>
              </a:solidFill>
              <a:latin typeface="Tw Cen MT Condensed" panose="020B0606020104020203" pitchFamily="34" charset="77"/>
              <a:sym typeface="+mn-ea"/>
            </a:endParaRPr>
          </a:p>
          <a:p>
            <a:r>
              <a:rPr lang="en-US" sz="2400" b="1" dirty="0">
                <a:solidFill>
                  <a:schemeClr val="bg2"/>
                </a:solidFill>
                <a:latin typeface="Tw Cen MT Condensed" panose="020B0606020104020203" pitchFamily="34" charset="77"/>
                <a:sym typeface="+mn-ea"/>
              </a:rPr>
              <a:t>       Machine Learning Prediction</a:t>
            </a:r>
            <a:endParaRPr lang="en-US" sz="2400" b="1" dirty="0">
              <a:solidFill>
                <a:schemeClr val="bg2"/>
              </a:solidFill>
              <a:latin typeface="Tw Cen MT Condensed" panose="020B0606020104020203" pitchFamily="34" charset="77"/>
              <a:sym typeface="+mn-ea"/>
            </a:endParaRPr>
          </a:p>
        </p:txBody>
      </p:sp>
      <p:sp>
        <p:nvSpPr>
          <p:cNvPr id="18" name="Oval 17"/>
          <p:cNvSpPr/>
          <p:nvPr/>
        </p:nvSpPr>
        <p:spPr>
          <a:xfrm>
            <a:off x="843791" y="1008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en-US" dirty="0"/>
          </a:p>
        </p:txBody>
      </p:sp>
      <p:sp>
        <p:nvSpPr>
          <p:cNvPr id="12" name="Content Placeholder 11"/>
          <p:cNvSpPr/>
          <p:nvPr>
            <p:ph idx="1"/>
            <p:custDataLst>
              <p:tags r:id="rId4"/>
            </p:custDataLst>
          </p:nvPr>
        </p:nvSpPr>
        <p:spPr/>
        <p:txBody>
          <a:bodyPr>
            <a:noAutofit/>
          </a:bodyPr>
          <a:p>
            <a:r>
              <a:rPr lang="en-US" sz="1800" dirty="0">
                <a:sym typeface="+mn-ea"/>
              </a:rPr>
              <a:t>Functions from the Scikit-learn library are used to create our machine learning models.</a:t>
            </a:r>
            <a:endParaRPr lang="en-US" sz="1800" dirty="0"/>
          </a:p>
          <a:p>
            <a:r>
              <a:rPr lang="en-US" sz="1800" dirty="0">
                <a:sym typeface="+mn-ea"/>
              </a:rPr>
              <a:t>The machine learning prediction phase include the following steps:</a:t>
            </a:r>
            <a:endParaRPr lang="en-US" sz="1800" dirty="0"/>
          </a:p>
          <a:p>
            <a:pPr lvl="1"/>
            <a:r>
              <a:rPr lang="en-US" sz="1800" dirty="0">
                <a:sym typeface="+mn-ea"/>
              </a:rPr>
              <a:t>Standardizing the data</a:t>
            </a:r>
            <a:endParaRPr lang="en-US" sz="1800" dirty="0"/>
          </a:p>
          <a:p>
            <a:pPr lvl="1"/>
            <a:r>
              <a:rPr lang="en-US" sz="1800" dirty="0">
                <a:sym typeface="+mn-ea"/>
              </a:rPr>
              <a:t>Splitting the data into training and test data</a:t>
            </a:r>
            <a:endParaRPr lang="en-US" sz="1800" dirty="0"/>
          </a:p>
          <a:p>
            <a:pPr lvl="1"/>
            <a:r>
              <a:rPr lang="en-US" sz="1800" dirty="0">
                <a:sym typeface="+mn-ea"/>
              </a:rPr>
              <a:t>Creating machine learning models, which include:</a:t>
            </a:r>
            <a:endParaRPr lang="en-US" sz="1800" dirty="0"/>
          </a:p>
          <a:p>
            <a:pPr lvl="2"/>
            <a:r>
              <a:rPr lang="en-US" sz="1800" dirty="0">
                <a:sym typeface="+mn-ea"/>
              </a:rPr>
              <a:t>Logistic regression</a:t>
            </a:r>
            <a:endParaRPr lang="en-US" sz="1800" dirty="0"/>
          </a:p>
          <a:p>
            <a:pPr lvl="2"/>
            <a:r>
              <a:rPr lang="en-US" sz="1800" dirty="0">
                <a:sym typeface="+mn-ea"/>
              </a:rPr>
              <a:t>Support vector machine (SVM)</a:t>
            </a:r>
            <a:endParaRPr lang="en-US" sz="1800" dirty="0"/>
          </a:p>
          <a:p>
            <a:pPr lvl="2"/>
            <a:r>
              <a:rPr lang="en-US" sz="1800" dirty="0">
                <a:sym typeface="+mn-ea"/>
              </a:rPr>
              <a:t>Decision tree</a:t>
            </a:r>
            <a:endParaRPr lang="en-US" sz="1800" dirty="0"/>
          </a:p>
          <a:p>
            <a:pPr lvl="2"/>
            <a:r>
              <a:rPr lang="en-US" sz="1800" dirty="0">
                <a:sym typeface="+mn-ea"/>
              </a:rPr>
              <a:t>K nearest neighbors (KNN)</a:t>
            </a:r>
            <a:endParaRPr lang="en-US" sz="1800" dirty="0"/>
          </a:p>
          <a:p>
            <a:pPr lvl="1"/>
            <a:r>
              <a:rPr lang="en-US" sz="1800" dirty="0">
                <a:sym typeface="+mn-ea"/>
              </a:rPr>
              <a:t>Fit the models on the training set </a:t>
            </a:r>
            <a:endParaRPr lang="en-US" sz="1800" dirty="0"/>
          </a:p>
          <a:p>
            <a:pPr lvl="1"/>
            <a:r>
              <a:rPr lang="en-US" sz="1800" dirty="0">
                <a:sym typeface="+mn-ea"/>
              </a:rPr>
              <a:t>Find the best combination of hyperparameters for each model</a:t>
            </a:r>
            <a:endParaRPr lang="en-US" sz="1800" dirty="0"/>
          </a:p>
          <a:p>
            <a:pPr lvl="1"/>
            <a:r>
              <a:rPr lang="en-US" sz="1800" dirty="0">
                <a:sym typeface="+mn-ea"/>
              </a:rPr>
              <a:t>Evaluate the models based on their accuracy scores and confusion matrix</a:t>
            </a:r>
            <a:endParaRPr lang="en-US" sz="1800" dirty="0"/>
          </a:p>
        </p:txBody>
      </p:sp>
      <p:pic>
        <p:nvPicPr>
          <p:cNvPr id="1126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57820" y="3077845"/>
            <a:ext cx="3021330" cy="153352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6"/>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sz="2400">
                <a:solidFill>
                  <a:schemeClr val="bg2"/>
                </a:solidFill>
              </a:rPr>
              <a:t>RESULTS</a:t>
            </a:r>
            <a:endParaRPr lang="en-US" sz="2400">
              <a:solidFill>
                <a:schemeClr val="bg2"/>
              </a:solidFill>
            </a:endParaRPr>
          </a:p>
        </p:txBody>
      </p:sp>
      <p:sp>
        <p:nvSpPr>
          <p:cNvPr id="3" name="Content Placeholder 2"/>
          <p:cNvSpPr>
            <a:spLocks noGrp="1"/>
          </p:cNvSpPr>
          <p:nvPr>
            <p:ph idx="1"/>
            <p:custDataLst>
              <p:tags r:id="rId2"/>
            </p:custDataLst>
          </p:nvPr>
        </p:nvSpPr>
        <p:spPr/>
        <p:txBody>
          <a:bodyPr/>
          <a:p>
            <a:r>
              <a:rPr lang="en-US" sz="1800" dirty="0">
                <a:sym typeface="+mn-ea"/>
              </a:rPr>
              <a:t>The results are split into 5 sections:</a:t>
            </a:r>
            <a:endParaRPr lang="en-US" sz="1800" dirty="0"/>
          </a:p>
          <a:p>
            <a:pPr lvl="1"/>
            <a:r>
              <a:rPr lang="en-US" sz="1800" dirty="0">
                <a:sym typeface="+mn-ea"/>
              </a:rPr>
              <a:t>EDA with SQL</a:t>
            </a:r>
            <a:endParaRPr lang="en-US" sz="1800" dirty="0"/>
          </a:p>
          <a:p>
            <a:pPr lvl="1"/>
            <a:r>
              <a:rPr lang="en-US" sz="1800" dirty="0">
                <a:sym typeface="+mn-ea"/>
              </a:rPr>
              <a:t>Matplotlib and Seaborn (EDA with Visualization)</a:t>
            </a:r>
            <a:endParaRPr lang="en-US" sz="1800" dirty="0"/>
          </a:p>
          <a:p>
            <a:pPr lvl="1"/>
            <a:r>
              <a:rPr lang="en-US" sz="1800" dirty="0">
                <a:sym typeface="+mn-ea"/>
              </a:rPr>
              <a:t>Folium</a:t>
            </a:r>
            <a:endParaRPr lang="en-US" sz="1800" dirty="0"/>
          </a:p>
          <a:p>
            <a:pPr lvl="1"/>
            <a:r>
              <a:rPr lang="en-US" sz="1800" dirty="0">
                <a:sym typeface="+mn-ea"/>
              </a:rPr>
              <a:t>Dash</a:t>
            </a:r>
            <a:endParaRPr lang="en-US" sz="1800" dirty="0"/>
          </a:p>
          <a:p>
            <a:pPr lvl="1"/>
            <a:r>
              <a:rPr lang="en-US" sz="1800" dirty="0">
                <a:sym typeface="+mn-ea"/>
              </a:rPr>
              <a:t>Predictive Analysis </a:t>
            </a:r>
            <a:endParaRPr lang="en-US" sz="1800" dirty="0"/>
          </a:p>
          <a:p>
            <a:r>
              <a:rPr lang="en-US" sz="1800" dirty="0">
                <a:sym typeface="+mn-ea"/>
              </a:rPr>
              <a:t>In all of the graphs that follow, class 0 represents a failed launch outcome while class 1 represents a successful launch outcome.</a:t>
            </a:r>
            <a:endParaRPr lang="en-US" sz="1800" dirty="0"/>
          </a:p>
          <a:p>
            <a:endParaRPr 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sz="1200">
                <a:solidFill>
                  <a:schemeClr val="bg2"/>
                </a:solidFill>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SQL  - EDA with SQL</a:t>
            </a:r>
            <a:endParaRPr lang="en-US" sz="1200">
              <a:solidFill>
                <a:schemeClr val="bg2"/>
              </a:solidFill>
            </a:endParaRPr>
          </a:p>
        </p:txBody>
      </p:sp>
      <p:sp>
        <p:nvSpPr>
          <p:cNvPr id="3" name="Content Placeholder 2"/>
          <p:cNvSpPr>
            <a:spLocks noGrp="1"/>
          </p:cNvSpPr>
          <p:nvPr>
            <p:ph idx="1"/>
            <p:custDataLst>
              <p:tags r:id="rId2"/>
            </p:custDataLst>
          </p:nvPr>
        </p:nvSpPr>
        <p:spPr/>
        <p:txBody>
          <a:bodyPr/>
          <a:p>
            <a:r>
              <a:rPr lang="en-US" dirty="0">
                <a:sym typeface="+mn-ea"/>
              </a:rPr>
              <a:t>The total payload mass carried by boosters launched by NASA (CRS)</a:t>
            </a:r>
            <a:endParaRPr lang="en-US" dirty="0">
              <a:sym typeface="+mn-ea"/>
            </a:endParaRPr>
          </a:p>
          <a:p>
            <a:pPr marL="0" indent="0">
              <a:buNone/>
            </a:pPr>
            <a:r>
              <a:rPr lang="en-US" dirty="0"/>
              <a:t>      </a:t>
            </a:r>
            <a:endParaRPr lang="en-US"/>
          </a:p>
          <a:p>
            <a:endParaRPr lang="en-US" dirty="0">
              <a:sym typeface="+mn-ea"/>
            </a:endParaRPr>
          </a:p>
          <a:p>
            <a:r>
              <a:rPr lang="en-US" dirty="0">
                <a:sym typeface="+mn-ea"/>
              </a:rPr>
              <a:t>The average payload mass carried by booster version F9 v1.1</a:t>
            </a:r>
            <a:endParaRPr lang="en-US" dirty="0">
              <a:sym typeface="+mn-ea"/>
            </a:endParaRPr>
          </a:p>
          <a:p>
            <a:endParaRPr lang="en-US"/>
          </a:p>
          <a:p>
            <a:endParaRPr lang="en-US" dirty="0">
              <a:sym typeface="+mn-ea"/>
            </a:endParaRPr>
          </a:p>
          <a:p>
            <a:r>
              <a:rPr lang="en-US" dirty="0">
                <a:sym typeface="+mn-ea"/>
              </a:rPr>
              <a:t>The date when the first successful landing outcome in ground pad was achieved</a:t>
            </a:r>
            <a:endParaRPr lang="en-US" dirty="0"/>
          </a:p>
          <a:p>
            <a:pPr marL="0" indent="0">
              <a:buNone/>
            </a:pPr>
            <a:r>
              <a:rPr lang="en-US"/>
              <a:t>    </a:t>
            </a: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US" dirty="0"/>
          </a:p>
        </p:txBody>
      </p:sp>
      <p:pic>
        <p:nvPicPr>
          <p:cNvPr id="8" name="Picture 7" descr="img_3"/>
          <p:cNvPicPr>
            <a:picLocks noChangeAspect="1"/>
          </p:cNvPicPr>
          <p:nvPr/>
        </p:nvPicPr>
        <p:blipFill>
          <a:blip r:embed="rId3"/>
          <a:stretch>
            <a:fillRect/>
          </a:stretch>
        </p:blipFill>
        <p:spPr>
          <a:xfrm>
            <a:off x="1275715" y="1997075"/>
            <a:ext cx="7939405" cy="761365"/>
          </a:xfrm>
          <a:prstGeom prst="rect">
            <a:avLst/>
          </a:prstGeom>
        </p:spPr>
      </p:pic>
      <p:pic>
        <p:nvPicPr>
          <p:cNvPr id="9" name="Picture 8" descr="img_4"/>
          <p:cNvPicPr>
            <a:picLocks noChangeAspect="1"/>
          </p:cNvPicPr>
          <p:nvPr/>
        </p:nvPicPr>
        <p:blipFill>
          <a:blip r:embed="rId4"/>
          <a:stretch>
            <a:fillRect/>
          </a:stretch>
        </p:blipFill>
        <p:spPr>
          <a:xfrm>
            <a:off x="1835785" y="3429000"/>
            <a:ext cx="7379335" cy="850900"/>
          </a:xfrm>
          <a:prstGeom prst="rect">
            <a:avLst/>
          </a:prstGeom>
        </p:spPr>
      </p:pic>
      <p:pic>
        <p:nvPicPr>
          <p:cNvPr id="11" name="Picture 10" descr="Screenshot_9-8-2026_163953_github.com"/>
          <p:cNvPicPr>
            <a:picLocks noChangeAspect="1"/>
          </p:cNvPicPr>
          <p:nvPr/>
        </p:nvPicPr>
        <p:blipFill>
          <a:blip r:embed="rId5"/>
          <a:stretch>
            <a:fillRect/>
          </a:stretch>
        </p:blipFill>
        <p:spPr>
          <a:xfrm>
            <a:off x="1055370" y="5210810"/>
            <a:ext cx="8160385" cy="1038860"/>
          </a:xfrm>
          <a:prstGeom prst="rect">
            <a:avLst/>
          </a:prstGeom>
        </p:spPr>
      </p:pic>
    </p:spTree>
    <p:custDataLst>
      <p:tags r:id="rId6"/>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sz="1200">
                <a:solidFill>
                  <a:schemeClr val="bg2"/>
                </a:solidFill>
              </a:rPr>
              <a:t>RESULTS</a:t>
            </a:r>
            <a:br>
              <a:rPr lang="en-US" sz="1200">
                <a:solidFill>
                  <a:schemeClr val="bg2"/>
                </a:solidFill>
              </a:rPr>
            </a:br>
            <a:r>
              <a:rPr lang="en-US" sz="1200">
                <a:solidFill>
                  <a:schemeClr val="bg2"/>
                </a:solidFill>
                <a:sym typeface="+mn-ea"/>
              </a:rPr>
              <a:t> 		SQL -  EDA with SQL </a:t>
            </a:r>
            <a:endParaRPr lang="en-US" sz="1200">
              <a:solidFill>
                <a:schemeClr val="bg2"/>
              </a:solidFill>
            </a:endParaRPr>
          </a:p>
        </p:txBody>
      </p:sp>
      <p:sp>
        <p:nvSpPr>
          <p:cNvPr id="3" name="Content Placeholder 2"/>
          <p:cNvSpPr>
            <a:spLocks noGrp="1"/>
          </p:cNvSpPr>
          <p:nvPr>
            <p:ph idx="1"/>
            <p:custDataLst>
              <p:tags r:id="rId2"/>
            </p:custDataLst>
          </p:nvPr>
        </p:nvSpPr>
        <p:spPr>
          <a:xfrm>
            <a:off x="608330" y="1490345"/>
            <a:ext cx="10968990" cy="4492625"/>
          </a:xfrm>
        </p:spPr>
        <p:txBody>
          <a:bodyPr>
            <a:normAutofit lnSpcReduction="10000"/>
          </a:bodyPr>
          <a:p>
            <a:r>
              <a:rPr lang="en-US" dirty="0">
                <a:sym typeface="+mn-ea"/>
              </a:rPr>
              <a:t>The names of the boosters which have success in drone ship and have payload mass greater than 4000 but less than 6000</a:t>
            </a:r>
            <a:endParaRPr lang="en-US" dirty="0">
              <a:sym typeface="+mn-ea"/>
            </a:endParaRPr>
          </a:p>
          <a:p>
            <a:pPr marL="0" indent="0">
              <a:buNone/>
            </a:pPr>
            <a:r>
              <a:rPr lang="en-US" dirty="0"/>
              <a:t>      </a:t>
            </a:r>
            <a:endParaRPr lang="en-US"/>
          </a:p>
          <a:p>
            <a:endParaRPr lang="en-US" dirty="0">
              <a:sym typeface="+mn-ea"/>
            </a:endParaRPr>
          </a:p>
          <a:p>
            <a:endParaRPr lang="en-US" dirty="0">
              <a:sym typeface="+mn-ea"/>
            </a:endParaRPr>
          </a:p>
          <a:p>
            <a:endParaRPr lang="en-US" dirty="0">
              <a:sym typeface="+mn-ea"/>
            </a:endParaRPr>
          </a:p>
          <a:p>
            <a:r>
              <a:rPr lang="en-US" dirty="0">
                <a:sym typeface="+mn-ea"/>
              </a:rPr>
              <a:t>The total number of successful and failure mission outcomes</a:t>
            </a:r>
            <a:endParaRPr lang="en-US" dirty="0"/>
          </a:p>
          <a:p>
            <a:endParaRPr lang="en-US"/>
          </a:p>
          <a:p>
            <a:endParaRPr lang="en-US" dirty="0">
              <a:sym typeface="+mn-ea"/>
            </a:endParaRPr>
          </a:p>
          <a:p>
            <a:pPr marL="0" indent="0">
              <a:buNone/>
            </a:pPr>
            <a:r>
              <a:rPr lang="en-US"/>
              <a:t>    </a:t>
            </a: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US" dirty="0"/>
          </a:p>
        </p:txBody>
      </p:sp>
      <p:pic>
        <p:nvPicPr>
          <p:cNvPr id="5" name="Picture 4" descr="img_6"/>
          <p:cNvPicPr>
            <a:picLocks noChangeAspect="1"/>
          </p:cNvPicPr>
          <p:nvPr/>
        </p:nvPicPr>
        <p:blipFill>
          <a:blip r:embed="rId3"/>
          <a:stretch>
            <a:fillRect/>
          </a:stretch>
        </p:blipFill>
        <p:spPr>
          <a:xfrm>
            <a:off x="843915" y="4891405"/>
            <a:ext cx="10186670" cy="1256030"/>
          </a:xfrm>
          <a:prstGeom prst="rect">
            <a:avLst/>
          </a:prstGeom>
        </p:spPr>
      </p:pic>
      <p:pic>
        <p:nvPicPr>
          <p:cNvPr id="6" name="Picture 5" descr="img_5"/>
          <p:cNvPicPr>
            <a:picLocks noChangeAspect="1"/>
          </p:cNvPicPr>
          <p:nvPr/>
        </p:nvPicPr>
        <p:blipFill>
          <a:blip r:embed="rId4"/>
          <a:stretch>
            <a:fillRect/>
          </a:stretch>
        </p:blipFill>
        <p:spPr>
          <a:xfrm>
            <a:off x="844550" y="2369820"/>
            <a:ext cx="10313035" cy="1485265"/>
          </a:xfrm>
          <a:prstGeom prst="rect">
            <a:avLst/>
          </a:prstGeom>
        </p:spPr>
      </p:pic>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sz="1200">
                <a:solidFill>
                  <a:schemeClr val="bg2"/>
                </a:solidFill>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SQL -  EDA with SQL </a:t>
            </a:r>
            <a:endParaRPr lang="en-US" sz="1200">
              <a:solidFill>
                <a:schemeClr val="bg2"/>
              </a:solidFill>
            </a:endParaRPr>
          </a:p>
        </p:txBody>
      </p:sp>
      <p:sp>
        <p:nvSpPr>
          <p:cNvPr id="3" name="Content Placeholder 2"/>
          <p:cNvSpPr>
            <a:spLocks noGrp="1"/>
          </p:cNvSpPr>
          <p:nvPr>
            <p:ph idx="1"/>
            <p:custDataLst>
              <p:tags r:id="rId2"/>
            </p:custDataLst>
          </p:nvPr>
        </p:nvSpPr>
        <p:spPr/>
        <p:txBody>
          <a:bodyPr/>
          <a:p>
            <a:pPr marL="0" indent="0">
              <a:buNone/>
            </a:pPr>
            <a:r>
              <a:rPr lang="en-US" dirty="0">
                <a:sym typeface="+mn-ea"/>
              </a:rPr>
              <a:t>The names of the unique launch sites in the space mission</a:t>
            </a:r>
            <a:endParaRPr lang="en-US" dirty="0"/>
          </a:p>
          <a:p>
            <a:pPr marL="0" indent="0">
              <a:buNone/>
            </a:pPr>
            <a:r>
              <a:rPr lang="en-US" dirty="0"/>
              <a:t>      </a:t>
            </a:r>
            <a:endParaRPr lang="en-US"/>
          </a:p>
          <a:p>
            <a:endParaRPr lang="en-US" dirty="0">
              <a:sym typeface="+mn-ea"/>
            </a:endParaRPr>
          </a:p>
          <a:p>
            <a:endParaRPr lang="en-US" dirty="0">
              <a:sym typeface="+mn-ea"/>
            </a:endParaRPr>
          </a:p>
          <a:p>
            <a:r>
              <a:rPr lang="en-US" dirty="0">
                <a:sym typeface="+mn-ea"/>
              </a:rPr>
              <a:t> records where launch sites begin with ‘CCA’</a:t>
            </a:r>
            <a:endParaRPr lang="en-US" dirty="0"/>
          </a:p>
          <a:p>
            <a:endParaRPr lang="en-US" dirty="0">
              <a:sym typeface="+mn-ea"/>
            </a:endParaRPr>
          </a:p>
          <a:p>
            <a:pPr marL="0" indent="0">
              <a:buNone/>
            </a:pPr>
            <a:r>
              <a:rPr lang="en-US"/>
              <a:t>    </a:t>
            </a: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US" dirty="0"/>
          </a:p>
        </p:txBody>
      </p:sp>
      <p:pic>
        <p:nvPicPr>
          <p:cNvPr id="12" name="Picture 11" descr="Screenshot_9-8-2026_16477_github.com"/>
          <p:cNvPicPr>
            <a:picLocks noChangeAspect="1"/>
          </p:cNvPicPr>
          <p:nvPr/>
        </p:nvPicPr>
        <p:blipFill>
          <a:blip r:embed="rId3"/>
          <a:stretch>
            <a:fillRect/>
          </a:stretch>
        </p:blipFill>
        <p:spPr>
          <a:xfrm>
            <a:off x="1354455" y="1991360"/>
            <a:ext cx="9354185" cy="1257300"/>
          </a:xfrm>
          <a:prstGeom prst="rect">
            <a:avLst/>
          </a:prstGeom>
        </p:spPr>
      </p:pic>
      <p:pic>
        <p:nvPicPr>
          <p:cNvPr id="13" name="Picture 12" descr="Screenshot_9-8-2026_16495_github.com"/>
          <p:cNvPicPr>
            <a:picLocks noChangeAspect="1"/>
          </p:cNvPicPr>
          <p:nvPr/>
        </p:nvPicPr>
        <p:blipFill>
          <a:blip r:embed="rId4"/>
          <a:stretch>
            <a:fillRect/>
          </a:stretch>
        </p:blipFill>
        <p:spPr>
          <a:xfrm>
            <a:off x="1046480" y="3957955"/>
            <a:ext cx="8991600" cy="2286000"/>
          </a:xfrm>
          <a:prstGeom prst="rect">
            <a:avLst/>
          </a:prstGeom>
        </p:spPr>
      </p:pic>
    </p:spTree>
    <p:custDataLst>
      <p:tags r:id="rId5"/>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sz="1200">
                <a:solidFill>
                  <a:schemeClr val="bg2"/>
                </a:solidFill>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SQL - EDA with SQL</a:t>
            </a:r>
            <a:endParaRPr lang="en-US" sz="1200">
              <a:solidFill>
                <a:schemeClr val="bg2"/>
              </a:solidFill>
            </a:endParaRPr>
          </a:p>
        </p:txBody>
      </p:sp>
      <p:sp>
        <p:nvSpPr>
          <p:cNvPr id="3" name="Content Placeholder 2"/>
          <p:cNvSpPr>
            <a:spLocks noGrp="1"/>
          </p:cNvSpPr>
          <p:nvPr>
            <p:ph idx="1"/>
            <p:custDataLst>
              <p:tags r:id="rId2"/>
            </p:custDataLst>
          </p:nvPr>
        </p:nvSpPr>
        <p:spPr/>
        <p:txBody>
          <a:bodyPr/>
          <a:p>
            <a:pPr marL="0" indent="0">
              <a:buNone/>
            </a:pPr>
            <a:r>
              <a:rPr lang="en-US" dirty="0">
                <a:sym typeface="+mn-ea"/>
              </a:rPr>
              <a:t>The names of the booster versions which have carried the maximum payload mass</a:t>
            </a:r>
            <a:endParaRPr lang="en-US" dirty="0"/>
          </a:p>
          <a:p>
            <a:pPr marL="0" indent="0">
              <a:buNone/>
            </a:pPr>
            <a:r>
              <a:rPr lang="en-US" dirty="0"/>
              <a:t>     </a:t>
            </a: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US" dirty="0"/>
          </a:p>
        </p:txBody>
      </p:sp>
      <p:pic>
        <p:nvPicPr>
          <p:cNvPr id="5" name="Picture 4" descr="img_7"/>
          <p:cNvPicPr>
            <a:picLocks noChangeAspect="1"/>
          </p:cNvPicPr>
          <p:nvPr/>
        </p:nvPicPr>
        <p:blipFill>
          <a:blip r:embed="rId3"/>
          <a:stretch>
            <a:fillRect/>
          </a:stretch>
        </p:blipFill>
        <p:spPr>
          <a:xfrm>
            <a:off x="709930" y="2147570"/>
            <a:ext cx="9867265" cy="4102100"/>
          </a:xfrm>
          <a:prstGeom prst="rect">
            <a:avLst/>
          </a:prstGeo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sz="1200">
                <a:solidFill>
                  <a:schemeClr val="bg2"/>
                </a:solidFill>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SQL -  EDA with SQL </a:t>
            </a:r>
            <a:endParaRPr lang="en-US" sz="1200">
              <a:solidFill>
                <a:schemeClr val="bg2"/>
              </a:solidFill>
            </a:endParaRPr>
          </a:p>
        </p:txBody>
      </p:sp>
      <p:sp>
        <p:nvSpPr>
          <p:cNvPr id="3" name="Content Placeholder 2"/>
          <p:cNvSpPr>
            <a:spLocks noGrp="1"/>
          </p:cNvSpPr>
          <p:nvPr>
            <p:ph idx="1"/>
            <p:custDataLst>
              <p:tags r:id="rId2"/>
            </p:custDataLst>
          </p:nvPr>
        </p:nvSpPr>
        <p:spPr/>
        <p:txBody>
          <a:bodyPr/>
          <a:p>
            <a:pPr marL="0" indent="0">
              <a:buNone/>
            </a:pPr>
            <a:r>
              <a:rPr lang="en-MY" dirty="0">
                <a:sym typeface="+mn-ea"/>
              </a:rPr>
              <a:t>The failed landing outcomes in drone ship, their booster versions, and launch site names for in year 2015</a:t>
            </a:r>
            <a:endParaRPr lang="en-MY" dirty="0"/>
          </a:p>
          <a:p>
            <a:pPr marL="0" indent="0">
              <a:buNone/>
            </a:pPr>
            <a:endParaRPr lang="en-US" dirty="0">
              <a:sym typeface="+mn-ea"/>
            </a:endParaRPr>
          </a:p>
          <a:p>
            <a:endParaRPr lang="en-US"/>
          </a:p>
          <a:p>
            <a:pPr marL="0" indent="0">
              <a:buNone/>
            </a:pPr>
            <a:r>
              <a:rPr lang="en-MY" dirty="0">
                <a:sym typeface="+mn-ea"/>
              </a:rPr>
              <a:t>The count of landing outcomes between the date 2010-06-04 and 2017-03-20, in descending order</a:t>
            </a:r>
            <a:br>
              <a:rPr lang="en-MY" dirty="0">
                <a:sym typeface="+mn-ea"/>
              </a:rPr>
            </a:br>
            <a:endParaRPr lang="en-MY" dirty="0"/>
          </a:p>
          <a:p>
            <a:endParaRPr lang="en-US" dirty="0">
              <a:sym typeface="+mn-ea"/>
            </a:endParaRPr>
          </a:p>
          <a:p>
            <a:pPr marL="0" indent="0">
              <a:buNone/>
            </a:pPr>
            <a:r>
              <a:rPr lang="en-US"/>
              <a:t>    </a:t>
            </a: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US" dirty="0"/>
          </a:p>
        </p:txBody>
      </p:sp>
      <p:pic>
        <p:nvPicPr>
          <p:cNvPr id="5" name="Picture 4" descr="img_8"/>
          <p:cNvPicPr>
            <a:picLocks noChangeAspect="1"/>
          </p:cNvPicPr>
          <p:nvPr/>
        </p:nvPicPr>
        <p:blipFill>
          <a:blip r:embed="rId3"/>
          <a:stretch>
            <a:fillRect/>
          </a:stretch>
        </p:blipFill>
        <p:spPr>
          <a:xfrm>
            <a:off x="714375" y="2508250"/>
            <a:ext cx="10689590" cy="920750"/>
          </a:xfrm>
          <a:prstGeom prst="rect">
            <a:avLst/>
          </a:prstGeom>
        </p:spPr>
      </p:pic>
      <p:pic>
        <p:nvPicPr>
          <p:cNvPr id="6" name="Picture 5" descr="Screenshot_9-8-2026_165620_github.com"/>
          <p:cNvPicPr>
            <a:picLocks noChangeAspect="1"/>
          </p:cNvPicPr>
          <p:nvPr/>
        </p:nvPicPr>
        <p:blipFill>
          <a:blip r:embed="rId4"/>
          <a:stretch>
            <a:fillRect/>
          </a:stretch>
        </p:blipFill>
        <p:spPr>
          <a:xfrm>
            <a:off x="715010" y="4173220"/>
            <a:ext cx="10608310" cy="2076450"/>
          </a:xfrm>
          <a:prstGeom prst="rect">
            <a:avLst/>
          </a:prstGeom>
        </p:spPr>
      </p:pic>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Autofit/>
          </a:bodyPr>
          <a:p>
            <a:r>
              <a:rPr lang="en-US" sz="1800">
                <a:solidFill>
                  <a:schemeClr val="bg2"/>
                </a:solidFill>
                <a:latin typeface="Arial" panose="020B0604020202020204" pitchFamily="34" charset="0"/>
                <a:cs typeface="Arial" panose="020B0604020202020204" pitchFamily="34" charset="0"/>
              </a:rPr>
              <a:t>RESULTS</a:t>
            </a:r>
            <a:r>
              <a:rPr lang="en-US" sz="1800">
                <a:solidFill>
                  <a:schemeClr val="bg2"/>
                </a:solidFill>
                <a:latin typeface="Arial" panose="020B0604020202020204" pitchFamily="34" charset="0"/>
                <a:cs typeface="Arial" panose="020B0604020202020204" pitchFamily="34" charset="0"/>
                <a:sym typeface="+mn-ea"/>
              </a:rPr>
              <a:t> </a:t>
            </a:r>
            <a:br>
              <a:rPr lang="en-US" sz="1800">
                <a:solidFill>
                  <a:schemeClr val="bg2"/>
                </a:solidFill>
                <a:latin typeface="Arial" panose="020B0604020202020204" pitchFamily="34" charset="0"/>
                <a:cs typeface="Arial" panose="020B0604020202020204" pitchFamily="34" charset="0"/>
                <a:sym typeface="+mn-ea"/>
              </a:rPr>
            </a:br>
            <a:r>
              <a:rPr lang="en-US" sz="1800">
                <a:solidFill>
                  <a:schemeClr val="bg2"/>
                </a:solidFill>
                <a:latin typeface="Arial" panose="020B0604020202020204" pitchFamily="34" charset="0"/>
                <a:cs typeface="Arial" panose="020B0604020202020204" pitchFamily="34" charset="0"/>
                <a:sym typeface="+mn-ea"/>
              </a:rPr>
              <a:t>              </a:t>
            </a:r>
            <a:r>
              <a:rPr lang="en-US" sz="1800" b="1" dirty="0">
                <a:solidFill>
                  <a:schemeClr val="bg1"/>
                </a:solidFill>
                <a:latin typeface="Arial" panose="020B0604020202020204" pitchFamily="34" charset="0"/>
                <a:cs typeface="Arial" panose="020B0604020202020204" pitchFamily="34" charset="0"/>
                <a:sym typeface="+mn-ea"/>
              </a:rPr>
              <a:t>Matplotlib and Seaborn (EDA with Visualization)</a:t>
            </a:r>
            <a:r>
              <a:rPr lang="en-US" sz="1800">
                <a:solidFill>
                  <a:schemeClr val="bg2"/>
                </a:solidFill>
                <a:latin typeface="Arial" panose="020B0604020202020204" pitchFamily="34" charset="0"/>
                <a:cs typeface="Arial" panose="020B0604020202020204" pitchFamily="34" charset="0"/>
                <a:sym typeface="+mn-ea"/>
              </a:rPr>
              <a:t> </a:t>
            </a:r>
            <a:endParaRPr lang="en-US" sz="1800">
              <a:solidFill>
                <a:schemeClr val="bg2"/>
              </a:solidFill>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custDataLst>
              <p:tags r:id="rId2"/>
            </p:custDataLst>
          </p:nvPr>
        </p:nvSpPr>
        <p:spPr/>
        <p:txBody>
          <a:bodyPr/>
          <a:p>
            <a:pPr marL="0" indent="0">
              <a:buNone/>
            </a:pPr>
            <a:r>
              <a:rPr lang="en-MY" dirty="0">
                <a:sym typeface="+mn-ea"/>
              </a:rPr>
              <a:t>The relationship between flight number and launch site</a:t>
            </a:r>
            <a:endParaRPr lang="en-MY" dirty="0"/>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US" dirty="0"/>
          </a:p>
        </p:txBody>
      </p:sp>
      <p:pic>
        <p:nvPicPr>
          <p:cNvPr id="8" name="Picture 7" descr="Screenshot_9-8-2026_1734_github.com"/>
          <p:cNvPicPr>
            <a:picLocks noChangeAspect="1"/>
          </p:cNvPicPr>
          <p:nvPr/>
        </p:nvPicPr>
        <p:blipFill>
          <a:blip r:embed="rId3"/>
          <a:stretch>
            <a:fillRect/>
          </a:stretch>
        </p:blipFill>
        <p:spPr>
          <a:xfrm>
            <a:off x="608330" y="1943100"/>
            <a:ext cx="10968990" cy="4546600"/>
          </a:xfrm>
          <a:prstGeom prst="rect">
            <a:avLst/>
          </a:prstGeom>
        </p:spPr>
      </p:pic>
    </p:spTree>
    <p:custDataLst>
      <p:tags r:id="rId4"/>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rmAutofit fontScale="90000"/>
          </a:bodyPr>
          <a:p>
            <a:r>
              <a:rPr lang="en-US" sz="1400">
                <a:solidFill>
                  <a:schemeClr val="bg2"/>
                </a:solidFill>
                <a:latin typeface="Arial" panose="020B0604020202020204" pitchFamily="34" charset="0"/>
                <a:cs typeface="Arial" panose="020B0604020202020204" pitchFamily="34" charset="0"/>
              </a:rPr>
              <a:t>RESULTS</a:t>
            </a:r>
            <a:br>
              <a:rPr lang="en-US" sz="1400">
                <a:solidFill>
                  <a:schemeClr val="bg2"/>
                </a:solidFill>
                <a:latin typeface="Arial" panose="020B0604020202020204" pitchFamily="34" charset="0"/>
                <a:cs typeface="Arial" panose="020B0604020202020204" pitchFamily="34" charset="0"/>
              </a:rPr>
            </a:br>
            <a:br>
              <a:rPr lang="en-US" sz="1400">
                <a:solidFill>
                  <a:schemeClr val="bg2"/>
                </a:solidFill>
                <a:latin typeface="Arial" panose="020B0604020202020204" pitchFamily="34" charset="0"/>
                <a:cs typeface="Arial" panose="020B0604020202020204" pitchFamily="34" charset="0"/>
              </a:rPr>
            </a:br>
            <a:r>
              <a:rPr lang="en-US" sz="1400">
                <a:solidFill>
                  <a:schemeClr val="bg2"/>
                </a:solidFill>
                <a:latin typeface="Arial" panose="020B0604020202020204" pitchFamily="34" charset="0"/>
                <a:cs typeface="Arial" panose="020B0604020202020204" pitchFamily="34" charset="0"/>
              </a:rPr>
              <a:t>          </a:t>
            </a:r>
            <a:r>
              <a:rPr lang="en-US" sz="1400" b="1" dirty="0">
                <a:solidFill>
                  <a:schemeClr val="bg1"/>
                </a:solidFill>
                <a:latin typeface="Arial" panose="020B0604020202020204" pitchFamily="34" charset="0"/>
                <a:cs typeface="Arial" panose="020B0604020202020204" pitchFamily="34" charset="0"/>
                <a:sym typeface="+mn-ea"/>
              </a:rPr>
              <a:t>Matplotlib and Seaborn (EDA with Visualization)</a:t>
            </a:r>
            <a:r>
              <a:rPr lang="en-US" sz="1400">
                <a:solidFill>
                  <a:schemeClr val="bg2"/>
                </a:solidFill>
                <a:latin typeface="Arial" panose="020B0604020202020204" pitchFamily="34" charset="0"/>
                <a:cs typeface="Arial" panose="020B0604020202020204" pitchFamily="34" charset="0"/>
                <a:sym typeface="+mn-ea"/>
              </a:rPr>
              <a:t> </a:t>
            </a:r>
            <a:endParaRPr lang="en-US" sz="1400">
              <a:solidFill>
                <a:schemeClr val="bg2"/>
              </a:solidFill>
              <a:latin typeface="Arial" panose="020B0604020202020204" pitchFamily="34" charset="0"/>
              <a:cs typeface="Arial" panose="020B0604020202020204" pitchFamily="34" charset="0"/>
            </a:endParaRPr>
          </a:p>
        </p:txBody>
      </p:sp>
      <p:sp>
        <p:nvSpPr>
          <p:cNvPr id="3" name="Content Placeholder 2"/>
          <p:cNvSpPr>
            <a:spLocks noGrp="1"/>
          </p:cNvSpPr>
          <p:nvPr>
            <p:ph idx="1"/>
            <p:custDataLst>
              <p:tags r:id="rId2"/>
            </p:custDataLst>
          </p:nvPr>
        </p:nvSpPr>
        <p:spPr/>
        <p:txBody>
          <a:bodyPr/>
          <a:p>
            <a:pPr marL="0" indent="0">
              <a:buNone/>
            </a:pPr>
            <a:r>
              <a:rPr lang="en-MY" dirty="0">
                <a:sym typeface="+mn-ea"/>
              </a:rPr>
              <a:t>The relationship between payload mass and launch site</a:t>
            </a:r>
            <a:endParaRPr lang="en-MY" dirty="0"/>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US" dirty="0"/>
          </a:p>
        </p:txBody>
      </p:sp>
      <p:pic>
        <p:nvPicPr>
          <p:cNvPr id="5" name="Picture 4" descr="Screenshot_9-8-2026_17531_github.com"/>
          <p:cNvPicPr>
            <a:picLocks noChangeAspect="1"/>
          </p:cNvPicPr>
          <p:nvPr/>
        </p:nvPicPr>
        <p:blipFill>
          <a:blip r:embed="rId3"/>
          <a:stretch>
            <a:fillRect/>
          </a:stretch>
        </p:blipFill>
        <p:spPr>
          <a:xfrm>
            <a:off x="988060" y="2186305"/>
            <a:ext cx="8915400" cy="4562475"/>
          </a:xfrm>
          <a:prstGeom prst="rect">
            <a:avLst/>
          </a:prstGeom>
        </p:spPr>
      </p:pic>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Autofit/>
          </a:bodyPr>
          <a:p>
            <a:r>
              <a:rPr lang="en-US" sz="1400">
                <a:solidFill>
                  <a:schemeClr val="bg2"/>
                </a:solidFill>
                <a:latin typeface="Arial" panose="020B0604020202020204" pitchFamily="34" charset="0"/>
                <a:cs typeface="Arial" panose="020B0604020202020204" pitchFamily="34" charset="0"/>
              </a:rPr>
              <a:t>RESULTS</a:t>
            </a:r>
            <a:r>
              <a:rPr lang="en-US" sz="1400">
                <a:solidFill>
                  <a:schemeClr val="bg2"/>
                </a:solidFill>
                <a:latin typeface="Arial" panose="020B0604020202020204" pitchFamily="34" charset="0"/>
                <a:cs typeface="Arial" panose="020B0604020202020204" pitchFamily="34" charset="0"/>
                <a:sym typeface="+mn-ea"/>
              </a:rPr>
              <a:t>  </a:t>
            </a:r>
            <a:br>
              <a:rPr lang="en-US" sz="1400">
                <a:solidFill>
                  <a:schemeClr val="bg2"/>
                </a:solidFill>
                <a:latin typeface="Arial" panose="020B0604020202020204" pitchFamily="34" charset="0"/>
                <a:cs typeface="Arial" panose="020B0604020202020204" pitchFamily="34" charset="0"/>
                <a:sym typeface="+mn-ea"/>
              </a:rPr>
            </a:br>
            <a:r>
              <a:rPr lang="en-US" sz="1400">
                <a:solidFill>
                  <a:schemeClr val="bg2"/>
                </a:solidFill>
                <a:latin typeface="Arial" panose="020B0604020202020204" pitchFamily="34" charset="0"/>
                <a:cs typeface="Arial" panose="020B0604020202020204" pitchFamily="34" charset="0"/>
                <a:sym typeface="+mn-ea"/>
              </a:rPr>
              <a:t>           </a:t>
            </a:r>
            <a:r>
              <a:rPr lang="en-US" sz="1400" b="1" dirty="0">
                <a:solidFill>
                  <a:schemeClr val="bg1"/>
                </a:solidFill>
                <a:latin typeface="Arial" panose="020B0604020202020204" pitchFamily="34" charset="0"/>
                <a:cs typeface="Arial" panose="020B0604020202020204" pitchFamily="34" charset="0"/>
                <a:sym typeface="+mn-ea"/>
              </a:rPr>
              <a:t>Matplotlib and Seaborn (EDA with Visualization)</a:t>
            </a:r>
            <a:r>
              <a:rPr lang="en-US" sz="1400">
                <a:solidFill>
                  <a:schemeClr val="bg2"/>
                </a:solidFill>
                <a:latin typeface="Arial" panose="020B0604020202020204" pitchFamily="34" charset="0"/>
                <a:cs typeface="Arial" panose="020B0604020202020204" pitchFamily="34" charset="0"/>
                <a:sym typeface="+mn-ea"/>
              </a:rPr>
              <a:t> </a:t>
            </a:r>
            <a:endParaRPr lang="en-US" sz="1400">
              <a:solidFill>
                <a:schemeClr val="bg2"/>
              </a:solidFill>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custDataLst>
              <p:tags r:id="rId2"/>
            </p:custDataLst>
          </p:nvPr>
        </p:nvSpPr>
        <p:spPr/>
        <p:txBody>
          <a:bodyPr/>
          <a:p>
            <a:pPr marL="0" indent="0">
              <a:buNone/>
            </a:pPr>
            <a:r>
              <a:rPr lang="en-MY" dirty="0">
                <a:sym typeface="+mn-ea"/>
              </a:rPr>
              <a:t>The relationship between success rate and orbit type</a:t>
            </a:r>
            <a:endParaRPr lang="en-MY" dirty="0"/>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US" dirty="0"/>
          </a:p>
        </p:txBody>
      </p:sp>
      <p:pic>
        <p:nvPicPr>
          <p:cNvPr id="6" name="Picture 5" descr="success rate vs orbit type"/>
          <p:cNvPicPr>
            <a:picLocks noChangeAspect="1"/>
          </p:cNvPicPr>
          <p:nvPr/>
        </p:nvPicPr>
        <p:blipFill>
          <a:blip r:embed="rId3"/>
          <a:stretch>
            <a:fillRect/>
          </a:stretch>
        </p:blipFill>
        <p:spPr>
          <a:xfrm>
            <a:off x="608965" y="2417445"/>
            <a:ext cx="10968355" cy="4070350"/>
          </a:xfrm>
          <a:prstGeom prst="rect">
            <a:avLst/>
          </a:prstGeom>
        </p:spPr>
      </p:pic>
    </p:spTree>
    <p:custDataLst>
      <p:tags r:id="rId4"/>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Autofit/>
          </a:bodyPr>
          <a:p>
            <a:r>
              <a:rPr lang="en-US" sz="1400">
                <a:solidFill>
                  <a:schemeClr val="bg2"/>
                </a:solidFill>
                <a:latin typeface="Arial" panose="020B0604020202020204" pitchFamily="34" charset="0"/>
                <a:cs typeface="Arial" panose="020B0604020202020204" pitchFamily="34" charset="0"/>
              </a:rPr>
              <a:t>RESULTS</a:t>
            </a:r>
            <a:r>
              <a:rPr lang="en-US" sz="1400">
                <a:solidFill>
                  <a:schemeClr val="bg2"/>
                </a:solidFill>
                <a:latin typeface="Arial" panose="020B0604020202020204" pitchFamily="34" charset="0"/>
                <a:cs typeface="Arial" panose="020B0604020202020204" pitchFamily="34" charset="0"/>
                <a:sym typeface="+mn-ea"/>
              </a:rPr>
              <a:t> </a:t>
            </a:r>
            <a:br>
              <a:rPr lang="en-US" sz="1400">
                <a:solidFill>
                  <a:schemeClr val="bg2"/>
                </a:solidFill>
                <a:latin typeface="Arial" panose="020B0604020202020204" pitchFamily="34" charset="0"/>
                <a:cs typeface="Arial" panose="020B0604020202020204" pitchFamily="34" charset="0"/>
                <a:sym typeface="+mn-ea"/>
              </a:rPr>
            </a:br>
            <a:r>
              <a:rPr lang="en-US" sz="1400">
                <a:solidFill>
                  <a:schemeClr val="bg2"/>
                </a:solidFill>
                <a:latin typeface="Arial" panose="020B0604020202020204" pitchFamily="34" charset="0"/>
                <a:cs typeface="Arial" panose="020B0604020202020204" pitchFamily="34" charset="0"/>
                <a:sym typeface="+mn-ea"/>
              </a:rPr>
              <a:t>              </a:t>
            </a:r>
            <a:r>
              <a:rPr lang="en-US" sz="1400" b="1" dirty="0">
                <a:solidFill>
                  <a:schemeClr val="bg1"/>
                </a:solidFill>
                <a:latin typeface="Arial" panose="020B0604020202020204" pitchFamily="34" charset="0"/>
                <a:cs typeface="Arial" panose="020B0604020202020204" pitchFamily="34" charset="0"/>
                <a:sym typeface="+mn-ea"/>
              </a:rPr>
              <a:t>Matplotlib and Seaborn (EDA with Visualization)</a:t>
            </a:r>
            <a:r>
              <a:rPr lang="en-US" sz="1400">
                <a:solidFill>
                  <a:schemeClr val="bg2"/>
                </a:solidFill>
                <a:latin typeface="Arial" panose="020B0604020202020204" pitchFamily="34" charset="0"/>
                <a:cs typeface="Arial" panose="020B0604020202020204" pitchFamily="34" charset="0"/>
                <a:sym typeface="+mn-ea"/>
              </a:rPr>
              <a:t> </a:t>
            </a:r>
            <a:endParaRPr lang="en-US" sz="1400">
              <a:solidFill>
                <a:schemeClr val="bg2"/>
              </a:solidFill>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custDataLst>
              <p:tags r:id="rId2"/>
            </p:custDataLst>
          </p:nvPr>
        </p:nvSpPr>
        <p:spPr/>
        <p:txBody>
          <a:bodyPr/>
          <a:p>
            <a:pPr marL="0" indent="0">
              <a:buNone/>
            </a:pPr>
            <a:r>
              <a:rPr lang="en-MY" dirty="0">
                <a:sym typeface="+mn-ea"/>
              </a:rPr>
              <a:t>The relationship between flight number and orbit type</a:t>
            </a:r>
            <a:endParaRPr lang="en-MY" dirty="0">
              <a:sym typeface="+mn-ea"/>
            </a:endParaRPr>
          </a:p>
          <a:p>
            <a:pPr marL="0" indent="0">
              <a:buNone/>
            </a:pPr>
            <a:endParaRPr lang="en-US"/>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US" dirty="0"/>
          </a:p>
        </p:txBody>
      </p:sp>
      <p:pic>
        <p:nvPicPr>
          <p:cNvPr id="5" name="Picture 4" descr="orbit vs flight number"/>
          <p:cNvPicPr>
            <a:picLocks noChangeAspect="1"/>
          </p:cNvPicPr>
          <p:nvPr/>
        </p:nvPicPr>
        <p:blipFill>
          <a:blip r:embed="rId3"/>
          <a:stretch>
            <a:fillRect/>
          </a:stretch>
        </p:blipFill>
        <p:spPr>
          <a:xfrm>
            <a:off x="608330" y="2278380"/>
            <a:ext cx="10968990" cy="4345940"/>
          </a:xfrm>
          <a:prstGeom prst="rect">
            <a:avLst/>
          </a:prstGeom>
        </p:spPr>
      </p:pic>
    </p:spTree>
    <p:custDataLst>
      <p:tags r:id="rId4"/>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rmAutofit/>
          </a:bodyPr>
          <a:p>
            <a:r>
              <a:rPr lang="en-US" sz="1555">
                <a:solidFill>
                  <a:schemeClr val="bg2"/>
                </a:solidFill>
                <a:latin typeface="Arial" panose="020B0604020202020204" pitchFamily="34" charset="0"/>
                <a:cs typeface="Arial" panose="020B0604020202020204" pitchFamily="34" charset="0"/>
              </a:rPr>
              <a:t>RESULTS</a:t>
            </a:r>
            <a:r>
              <a:rPr lang="en-US" sz="1555">
                <a:solidFill>
                  <a:schemeClr val="bg2"/>
                </a:solidFill>
                <a:latin typeface="Arial" panose="020B0604020202020204" pitchFamily="34" charset="0"/>
                <a:cs typeface="Arial" panose="020B0604020202020204" pitchFamily="34" charset="0"/>
                <a:sym typeface="+mn-ea"/>
              </a:rPr>
              <a:t> </a:t>
            </a:r>
            <a:br>
              <a:rPr lang="en-US" sz="1555">
                <a:solidFill>
                  <a:schemeClr val="bg2"/>
                </a:solidFill>
                <a:latin typeface="Arial" panose="020B0604020202020204" pitchFamily="34" charset="0"/>
                <a:cs typeface="Arial" panose="020B0604020202020204" pitchFamily="34" charset="0"/>
                <a:sym typeface="+mn-ea"/>
              </a:rPr>
            </a:br>
            <a:r>
              <a:rPr lang="en-US" sz="1555">
                <a:solidFill>
                  <a:schemeClr val="bg2"/>
                </a:solidFill>
                <a:latin typeface="Arial" panose="020B0604020202020204" pitchFamily="34" charset="0"/>
                <a:cs typeface="Arial" panose="020B0604020202020204" pitchFamily="34" charset="0"/>
                <a:sym typeface="+mn-ea"/>
              </a:rPr>
              <a:t>             </a:t>
            </a:r>
            <a:r>
              <a:rPr lang="en-US" sz="1555" b="1" dirty="0">
                <a:solidFill>
                  <a:schemeClr val="bg1"/>
                </a:solidFill>
                <a:latin typeface="Arial" panose="020B0604020202020204" pitchFamily="34" charset="0"/>
                <a:cs typeface="Arial" panose="020B0604020202020204" pitchFamily="34" charset="0"/>
                <a:sym typeface="+mn-ea"/>
              </a:rPr>
              <a:t>Matplotlib and Seaborn (EDA with Visualization)</a:t>
            </a:r>
            <a:r>
              <a:rPr lang="en-US" sz="1555">
                <a:solidFill>
                  <a:schemeClr val="bg2"/>
                </a:solidFill>
                <a:latin typeface="Arial" panose="020B0604020202020204" pitchFamily="34" charset="0"/>
                <a:cs typeface="Arial" panose="020B0604020202020204" pitchFamily="34" charset="0"/>
                <a:sym typeface="+mn-ea"/>
              </a:rPr>
              <a:t> </a:t>
            </a:r>
            <a:r>
              <a:rPr lang="en-US" sz="1200">
                <a:solidFill>
                  <a:schemeClr val="bg2"/>
                </a:solidFill>
                <a:sym typeface="+mn-ea"/>
              </a:rPr>
              <a:t> </a:t>
            </a:r>
            <a:endParaRPr lang="en-US" sz="1200">
              <a:solidFill>
                <a:schemeClr val="bg2"/>
              </a:solidFill>
            </a:endParaRPr>
          </a:p>
        </p:txBody>
      </p:sp>
      <p:sp>
        <p:nvSpPr>
          <p:cNvPr id="3" name="Content Placeholder 2"/>
          <p:cNvSpPr>
            <a:spLocks noGrp="1"/>
          </p:cNvSpPr>
          <p:nvPr>
            <p:ph idx="1"/>
            <p:custDataLst>
              <p:tags r:id="rId2"/>
            </p:custDataLst>
          </p:nvPr>
        </p:nvSpPr>
        <p:spPr/>
        <p:txBody>
          <a:bodyPr/>
          <a:p>
            <a:pPr marL="0" indent="0">
              <a:buNone/>
            </a:pPr>
            <a:r>
              <a:rPr lang="en-MY" dirty="0">
                <a:sym typeface="+mn-ea"/>
              </a:rPr>
              <a:t>The relationship between payload mass and orbit type</a:t>
            </a:r>
            <a:endParaRPr lang="en-MY" dirty="0"/>
          </a:p>
          <a:p>
            <a:pPr marL="0" indent="0">
              <a:buNone/>
            </a:pPr>
            <a:endParaRPr lang="en-US"/>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US" dirty="0"/>
          </a:p>
        </p:txBody>
      </p:sp>
      <p:pic>
        <p:nvPicPr>
          <p:cNvPr id="6" name="Picture 5" descr="payloadmass vs orbit"/>
          <p:cNvPicPr>
            <a:picLocks noChangeAspect="1"/>
          </p:cNvPicPr>
          <p:nvPr/>
        </p:nvPicPr>
        <p:blipFill>
          <a:blip r:embed="rId3"/>
          <a:stretch>
            <a:fillRect/>
          </a:stretch>
        </p:blipFill>
        <p:spPr>
          <a:xfrm>
            <a:off x="607695" y="2136775"/>
            <a:ext cx="10968990" cy="3745865"/>
          </a:xfrm>
          <a:prstGeom prst="rect">
            <a:avLst/>
          </a:prstGeom>
        </p:spPr>
      </p:pic>
    </p:spTree>
    <p:custDataLst>
      <p:tags r:id="rId4"/>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rmAutofit/>
          </a:bodyPr>
          <a:p>
            <a:r>
              <a:rPr lang="en-US" sz="1400">
                <a:solidFill>
                  <a:schemeClr val="bg2"/>
                </a:solidFill>
                <a:latin typeface="Arial" panose="020B0604020202020204" pitchFamily="34" charset="0"/>
                <a:cs typeface="Arial" panose="020B0604020202020204" pitchFamily="34" charset="0"/>
              </a:rPr>
              <a:t>RESULTS</a:t>
            </a:r>
            <a:r>
              <a:rPr lang="en-US" sz="1400">
                <a:solidFill>
                  <a:schemeClr val="bg2"/>
                </a:solidFill>
                <a:latin typeface="Arial" panose="020B0604020202020204" pitchFamily="34" charset="0"/>
                <a:cs typeface="Arial" panose="020B0604020202020204" pitchFamily="34" charset="0"/>
                <a:sym typeface="+mn-ea"/>
              </a:rPr>
              <a:t> </a:t>
            </a:r>
            <a:br>
              <a:rPr lang="en-US" sz="1400">
                <a:solidFill>
                  <a:schemeClr val="bg2"/>
                </a:solidFill>
                <a:latin typeface="Arial" panose="020B0604020202020204" pitchFamily="34" charset="0"/>
                <a:cs typeface="Arial" panose="020B0604020202020204" pitchFamily="34" charset="0"/>
                <a:sym typeface="+mn-ea"/>
              </a:rPr>
            </a:br>
            <a:r>
              <a:rPr lang="en-US" sz="1400">
                <a:solidFill>
                  <a:schemeClr val="bg2"/>
                </a:solidFill>
                <a:latin typeface="Arial" panose="020B0604020202020204" pitchFamily="34" charset="0"/>
                <a:cs typeface="Arial" panose="020B0604020202020204" pitchFamily="34" charset="0"/>
                <a:sym typeface="+mn-ea"/>
              </a:rPr>
              <a:t>             </a:t>
            </a:r>
            <a:r>
              <a:rPr lang="en-US" sz="1400" b="1" dirty="0">
                <a:solidFill>
                  <a:schemeClr val="bg1"/>
                </a:solidFill>
                <a:latin typeface="Arial" panose="020B0604020202020204" pitchFamily="34" charset="0"/>
                <a:cs typeface="Arial" panose="020B0604020202020204" pitchFamily="34" charset="0"/>
                <a:sym typeface="+mn-ea"/>
              </a:rPr>
              <a:t>Matplotlib and Seaborn (EDA with Visualization)</a:t>
            </a:r>
            <a:r>
              <a:rPr lang="en-US" sz="1400">
                <a:solidFill>
                  <a:schemeClr val="bg2"/>
                </a:solidFill>
                <a:latin typeface="Arial" panose="020B0604020202020204" pitchFamily="34" charset="0"/>
                <a:cs typeface="Arial" panose="020B0604020202020204" pitchFamily="34" charset="0"/>
                <a:sym typeface="+mn-ea"/>
              </a:rPr>
              <a:t> </a:t>
            </a:r>
            <a:r>
              <a:rPr lang="en-US" sz="1200">
                <a:solidFill>
                  <a:schemeClr val="bg2"/>
                </a:solidFill>
                <a:sym typeface="+mn-ea"/>
              </a:rPr>
              <a:t> </a:t>
            </a:r>
            <a:endParaRPr lang="en-US" sz="1200">
              <a:solidFill>
                <a:schemeClr val="bg2"/>
              </a:solidFill>
            </a:endParaRPr>
          </a:p>
        </p:txBody>
      </p:sp>
      <p:sp>
        <p:nvSpPr>
          <p:cNvPr id="3" name="Content Placeholder 2"/>
          <p:cNvSpPr>
            <a:spLocks noGrp="1"/>
          </p:cNvSpPr>
          <p:nvPr>
            <p:ph idx="1"/>
            <p:custDataLst>
              <p:tags r:id="rId2"/>
            </p:custDataLst>
          </p:nvPr>
        </p:nvSpPr>
        <p:spPr/>
        <p:txBody>
          <a:bodyPr/>
          <a:p>
            <a:pPr marL="0" indent="0">
              <a:buNone/>
            </a:pPr>
            <a:r>
              <a:rPr lang="en-MY" dirty="0">
                <a:sym typeface="+mn-ea"/>
              </a:rPr>
              <a:t>The launch success yearly trend</a:t>
            </a:r>
            <a:endParaRPr lang="en-MY" dirty="0"/>
          </a:p>
          <a:p>
            <a:pPr marL="0" indent="0">
              <a:buNone/>
            </a:pPr>
            <a:endParaRPr lang="en-US"/>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US" dirty="0"/>
          </a:p>
        </p:txBody>
      </p:sp>
      <p:pic>
        <p:nvPicPr>
          <p:cNvPr id="5" name="Picture 4" descr="launch success yearly trend"/>
          <p:cNvPicPr>
            <a:picLocks noChangeAspect="1"/>
          </p:cNvPicPr>
          <p:nvPr/>
        </p:nvPicPr>
        <p:blipFill>
          <a:blip r:embed="rId3"/>
          <a:stretch>
            <a:fillRect/>
          </a:stretch>
        </p:blipFill>
        <p:spPr>
          <a:xfrm>
            <a:off x="607695" y="1923415"/>
            <a:ext cx="10878820" cy="4451985"/>
          </a:xfrm>
          <a:prstGeom prst="rect">
            <a:avLst/>
          </a:prstGeom>
        </p:spPr>
      </p:pic>
    </p:spTree>
    <p:custDataLst>
      <p:tags r:id="rId4"/>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sz="1400">
                <a:solidFill>
                  <a:schemeClr val="bg2"/>
                </a:solidFill>
              </a:rPr>
              <a:t>RESULTS</a:t>
            </a: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a:t>
            </a:r>
            <a:r>
              <a:rPr lang="en-US" sz="1400">
                <a:solidFill>
                  <a:schemeClr val="bg2"/>
                </a:solidFill>
                <a:sym typeface="+mn-ea"/>
              </a:rPr>
              <a:t>Folium </a:t>
            </a:r>
            <a:endParaRPr lang="en-US" sz="1400">
              <a:solidFill>
                <a:schemeClr val="bg2"/>
              </a:solidFill>
            </a:endParaRPr>
          </a:p>
        </p:txBody>
      </p:sp>
      <p:sp>
        <p:nvSpPr>
          <p:cNvPr id="3" name="Content Placeholder 2"/>
          <p:cNvSpPr>
            <a:spLocks noGrp="1"/>
          </p:cNvSpPr>
          <p:nvPr>
            <p:ph idx="1"/>
            <p:custDataLst>
              <p:tags r:id="rId2"/>
            </p:custDataLst>
          </p:nvPr>
        </p:nvSpPr>
        <p:spPr/>
        <p:txBody>
          <a:bodyPr/>
          <a:p>
            <a:pPr marL="0" indent="0">
              <a:buNone/>
            </a:pPr>
            <a:r>
              <a:rPr lang="en-MY" dirty="0">
                <a:sym typeface="+mn-ea"/>
              </a:rPr>
              <a:t>All launch sites on map</a:t>
            </a:r>
            <a:br>
              <a:rPr lang="en-MY" dirty="0">
                <a:sym typeface="+mn-ea"/>
              </a:rPr>
            </a:br>
            <a:endParaRPr lang="en-MY" dirty="0"/>
          </a:p>
          <a:p>
            <a:pPr marL="0" indent="0">
              <a:buNone/>
            </a:pPr>
            <a:endParaRPr lang="en-US"/>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US" dirty="0"/>
          </a:p>
        </p:txBody>
      </p:sp>
      <p:pic>
        <p:nvPicPr>
          <p:cNvPr id="6" name="Picture 5" descr="all launch site on map"/>
          <p:cNvPicPr>
            <a:picLocks noChangeAspect="1"/>
          </p:cNvPicPr>
          <p:nvPr/>
        </p:nvPicPr>
        <p:blipFill>
          <a:blip r:embed="rId3"/>
          <a:stretch>
            <a:fillRect/>
          </a:stretch>
        </p:blipFill>
        <p:spPr>
          <a:xfrm>
            <a:off x="608965" y="1939290"/>
            <a:ext cx="10967720" cy="4789170"/>
          </a:xfrm>
          <a:prstGeom prst="rect">
            <a:avLst/>
          </a:prstGeom>
        </p:spPr>
      </p:pic>
    </p:spTree>
    <p:custDataLst>
      <p:tags r:id="rId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sz="1400">
                <a:solidFill>
                  <a:schemeClr val="bg2"/>
                </a:solidFill>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a:t>
            </a:r>
            <a:r>
              <a:rPr lang="en-US" sz="1400">
                <a:solidFill>
                  <a:schemeClr val="bg2"/>
                </a:solidFill>
                <a:sym typeface="+mn-ea"/>
              </a:rPr>
              <a:t>Folium</a:t>
            </a:r>
            <a:endParaRPr lang="en-US" sz="1400">
              <a:solidFill>
                <a:schemeClr val="bg2"/>
              </a:solidFill>
            </a:endParaRPr>
          </a:p>
        </p:txBody>
      </p:sp>
      <p:sp>
        <p:nvSpPr>
          <p:cNvPr id="3" name="Content Placeholder 2"/>
          <p:cNvSpPr>
            <a:spLocks noGrp="1"/>
          </p:cNvSpPr>
          <p:nvPr>
            <p:ph idx="1"/>
            <p:custDataLst>
              <p:tags r:id="rId2"/>
            </p:custDataLst>
          </p:nvPr>
        </p:nvSpPr>
        <p:spPr/>
        <p:txBody>
          <a:bodyPr/>
          <a:p>
            <a:pPr marL="0" indent="0">
              <a:buNone/>
            </a:pPr>
            <a:r>
              <a:rPr lang="en-US" sz="1800" dirty="0">
                <a:sym typeface="+mn-ea"/>
              </a:rPr>
              <a:t>The succeeded launches and failed launches for each site on map</a:t>
            </a:r>
            <a:endParaRPr lang="en-US" sz="1800" dirty="0"/>
          </a:p>
          <a:p>
            <a:pPr lvl="1"/>
            <a:br>
              <a:rPr lang="en-MY" sz="1800" dirty="0">
                <a:sym typeface="+mn-ea"/>
              </a:rPr>
            </a:br>
            <a:endParaRPr lang="en-MY" sz="1800" dirty="0">
              <a:sym typeface="+mn-ea"/>
            </a:endParaRPr>
          </a:p>
          <a:p>
            <a:pPr marL="457200" lvl="1" indent="0">
              <a:buNone/>
            </a:pPr>
            <a:br>
              <a:rPr lang="en-MY" dirty="0">
                <a:sym typeface="+mn-ea"/>
              </a:rPr>
            </a:br>
            <a:endParaRPr lang="en-MY" dirty="0"/>
          </a:p>
          <a:p>
            <a:pPr marL="0" indent="0">
              <a:buNone/>
            </a:pPr>
            <a:endParaRPr lang="en-US"/>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US" dirty="0"/>
          </a:p>
        </p:txBody>
      </p:sp>
      <p:pic>
        <p:nvPicPr>
          <p:cNvPr id="5" name="Picture 4" descr="Screenshot_9-8-2026_162048_labs.cognitiveclass.ai"/>
          <p:cNvPicPr>
            <a:picLocks noChangeAspect="1"/>
          </p:cNvPicPr>
          <p:nvPr/>
        </p:nvPicPr>
        <p:blipFill>
          <a:blip r:embed="rId3"/>
          <a:stretch>
            <a:fillRect/>
          </a:stretch>
        </p:blipFill>
        <p:spPr>
          <a:xfrm>
            <a:off x="180340" y="1950720"/>
            <a:ext cx="11523345" cy="4298950"/>
          </a:xfrm>
          <a:prstGeom prst="rect">
            <a:avLst/>
          </a:prstGeom>
        </p:spPr>
      </p:pic>
    </p:spTree>
    <p:custDataLst>
      <p:tags r:id="rId4"/>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sz="1400">
                <a:solidFill>
                  <a:schemeClr val="bg2"/>
                </a:solidFill>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a:t>
            </a:r>
            <a:r>
              <a:rPr lang="en-US" sz="1400">
                <a:solidFill>
                  <a:schemeClr val="bg2"/>
                </a:solidFill>
                <a:sym typeface="+mn-ea"/>
              </a:rPr>
              <a:t>Folium</a:t>
            </a:r>
            <a:endParaRPr lang="en-US" sz="1400">
              <a:solidFill>
                <a:schemeClr val="bg2"/>
              </a:solidFill>
            </a:endParaRPr>
          </a:p>
        </p:txBody>
      </p:sp>
      <p:sp>
        <p:nvSpPr>
          <p:cNvPr id="3" name="Content Placeholder 2"/>
          <p:cNvSpPr>
            <a:spLocks noGrp="1"/>
          </p:cNvSpPr>
          <p:nvPr>
            <p:ph idx="1"/>
            <p:custDataLst>
              <p:tags r:id="rId2"/>
            </p:custDataLst>
          </p:nvPr>
        </p:nvSpPr>
        <p:spPr/>
        <p:txBody>
          <a:bodyPr/>
          <a:p>
            <a:pPr marL="0" indent="0">
              <a:buNone/>
            </a:pPr>
            <a:r>
              <a:rPr lang="en-US" sz="1800" dirty="0">
                <a:sym typeface="+mn-ea"/>
              </a:rPr>
              <a:t>The distances between a launch site to its proximities such as the nearest city, railway, or highway</a:t>
            </a:r>
            <a:endParaRPr lang="en-US" sz="1800" dirty="0">
              <a:sym typeface="+mn-ea"/>
            </a:endParaRPr>
          </a:p>
          <a:p>
            <a:pPr marL="0" indent="0">
              <a:buNone/>
            </a:pPr>
            <a:endParaRPr lang="en-US" sz="1800" dirty="0">
              <a:sym typeface="+mn-ea"/>
            </a:endParaRPr>
          </a:p>
          <a:p>
            <a:pPr marL="0" indent="0">
              <a:buNone/>
            </a:pPr>
            <a:br>
              <a:rPr lang="en-MY" sz="1800" dirty="0">
                <a:sym typeface="+mn-ea"/>
              </a:rPr>
            </a:br>
            <a:endParaRPr lang="en-MY" sz="1800" dirty="0">
              <a:sym typeface="+mn-ea"/>
            </a:endParaRPr>
          </a:p>
          <a:p>
            <a:pPr marL="457200" lvl="1" indent="0">
              <a:buNone/>
            </a:pPr>
            <a:br>
              <a:rPr lang="en-MY" dirty="0">
                <a:sym typeface="+mn-ea"/>
              </a:rPr>
            </a:br>
            <a:endParaRPr lang="en-MY" dirty="0"/>
          </a:p>
          <a:p>
            <a:pPr marL="0" indent="0">
              <a:buNone/>
            </a:pPr>
            <a:endParaRPr lang="en-US"/>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US" dirty="0"/>
          </a:p>
        </p:txBody>
      </p:sp>
      <p:pic>
        <p:nvPicPr>
          <p:cNvPr id="5" name="Picture 4" descr="Screenshot_9-8-2026_162631_labs.cognitiveclass.ai"/>
          <p:cNvPicPr>
            <a:picLocks noChangeAspect="1"/>
          </p:cNvPicPr>
          <p:nvPr/>
        </p:nvPicPr>
        <p:blipFill>
          <a:blip r:embed="rId3"/>
          <a:stretch>
            <a:fillRect/>
          </a:stretch>
        </p:blipFill>
        <p:spPr>
          <a:xfrm>
            <a:off x="608330" y="2372360"/>
            <a:ext cx="11158220" cy="4291330"/>
          </a:xfrm>
          <a:prstGeom prst="rect">
            <a:avLst/>
          </a:prstGeom>
        </p:spPr>
      </p:pic>
    </p:spTree>
    <p:custDataLst>
      <p:tags r:id="rId4"/>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sz="1400">
                <a:solidFill>
                  <a:schemeClr val="bg2"/>
                </a:solidFill>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a:t>
            </a:r>
            <a:r>
              <a:rPr lang="en-US" sz="1400">
                <a:solidFill>
                  <a:schemeClr val="bg2"/>
                </a:solidFill>
                <a:sym typeface="+mn-ea"/>
              </a:rPr>
              <a:t>Dash </a:t>
            </a:r>
            <a:endParaRPr lang="en-US" sz="1400">
              <a:solidFill>
                <a:schemeClr val="bg2"/>
              </a:solidFill>
            </a:endParaRPr>
          </a:p>
        </p:txBody>
      </p:sp>
      <p:sp>
        <p:nvSpPr>
          <p:cNvPr id="3" name="Content Placeholder 2"/>
          <p:cNvSpPr>
            <a:spLocks noGrp="1"/>
          </p:cNvSpPr>
          <p:nvPr>
            <p:ph idx="1"/>
            <p:custDataLst>
              <p:tags r:id="rId2"/>
            </p:custDataLst>
          </p:nvPr>
        </p:nvSpPr>
        <p:spPr/>
        <p:txBody>
          <a:bodyPr/>
          <a:p>
            <a:pPr>
              <a:buFont typeface="Arial" panose="020B0604020202020204" pitchFamily="34" charset="0"/>
              <a:buChar char="•"/>
            </a:pPr>
            <a:r>
              <a:rPr lang="en-US" dirty="0">
                <a:sym typeface="+mn-ea"/>
              </a:rPr>
              <a:t>The picture below shows a pie chart when launch site CCAFS LC-40 is chosen.</a:t>
            </a:r>
            <a:endParaRPr lang="en-US" dirty="0"/>
          </a:p>
          <a:p>
            <a:pPr>
              <a:buFont typeface="Arial" panose="020B0604020202020204" pitchFamily="34" charset="0"/>
              <a:buChar char="•"/>
            </a:pPr>
            <a:r>
              <a:rPr lang="en-US" dirty="0">
                <a:sym typeface="+mn-ea"/>
              </a:rPr>
              <a:t>0 represents failed launches while 1 represents successful launches. We can see that 73.1% of launches done at CCAFS LC-40 are failed launches.</a:t>
            </a:r>
            <a:endParaRPr lang="en-US" dirty="0">
              <a:sym typeface="+mn-ea"/>
            </a:endParaRPr>
          </a:p>
          <a:p>
            <a:pPr>
              <a:buFont typeface="Arial" panose="020B0604020202020204" pitchFamily="34" charset="0"/>
              <a:buChar char="•"/>
            </a:pPr>
            <a:endParaRPr lang="en-US" sz="1800" dirty="0">
              <a:sym typeface="+mn-ea"/>
            </a:endParaRPr>
          </a:p>
          <a:p>
            <a:pPr marL="0" indent="0">
              <a:buNone/>
            </a:pPr>
            <a:br>
              <a:rPr lang="en-MY" sz="1800" dirty="0">
                <a:sym typeface="+mn-ea"/>
              </a:rPr>
            </a:br>
            <a:endParaRPr lang="en-MY" sz="1800" dirty="0">
              <a:sym typeface="+mn-ea"/>
            </a:endParaRPr>
          </a:p>
          <a:p>
            <a:pPr marL="457200" lvl="1" indent="0">
              <a:buNone/>
            </a:pPr>
            <a:br>
              <a:rPr lang="en-MY" dirty="0">
                <a:sym typeface="+mn-ea"/>
              </a:rPr>
            </a:br>
            <a:endParaRPr lang="en-MY" dirty="0"/>
          </a:p>
          <a:p>
            <a:pPr marL="0" indent="0">
              <a:buNone/>
            </a:pPr>
            <a:endParaRPr lang="en-US"/>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en-US" dirty="0"/>
          </a:p>
        </p:txBody>
      </p:sp>
      <p:pic>
        <p:nvPicPr>
          <p:cNvPr id="6" name="Picture 5" descr="newplot"/>
          <p:cNvPicPr>
            <a:picLocks noChangeAspect="1"/>
          </p:cNvPicPr>
          <p:nvPr/>
        </p:nvPicPr>
        <p:blipFill>
          <a:blip r:embed="rId3"/>
          <a:srcRect l="33724" t="1038" r="-170" b="3978"/>
          <a:stretch>
            <a:fillRect/>
          </a:stretch>
        </p:blipFill>
        <p:spPr>
          <a:xfrm>
            <a:off x="608330" y="3226435"/>
            <a:ext cx="10455275" cy="2790190"/>
          </a:xfrm>
          <a:prstGeom prst="rect">
            <a:avLst/>
          </a:prstGeom>
        </p:spPr>
      </p:pic>
    </p:spTree>
    <p:custDataLst>
      <p:tags r:id="rId4"/>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r>
              <a:rPr lang="en-US" sz="1200">
                <a:solidFill>
                  <a:schemeClr val="bg2"/>
                </a:solidFill>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Dash</a:t>
            </a:r>
            <a:endParaRPr lang="en-US" sz="1200">
              <a:solidFill>
                <a:schemeClr val="bg2"/>
              </a:solidFill>
            </a:endParaRPr>
          </a:p>
        </p:txBody>
      </p:sp>
      <p:sp>
        <p:nvSpPr>
          <p:cNvPr id="3" name="Content Placeholder 2"/>
          <p:cNvSpPr>
            <a:spLocks noGrp="1"/>
          </p:cNvSpPr>
          <p:nvPr>
            <p:ph idx="1"/>
            <p:custDataLst>
              <p:tags r:id="rId2"/>
            </p:custDataLst>
          </p:nvPr>
        </p:nvSpPr>
        <p:spPr/>
        <p:txBody>
          <a:bodyPr/>
          <a:p>
            <a:pPr>
              <a:buFont typeface="Arial" panose="020B0604020202020204" pitchFamily="34" charset="0"/>
              <a:buChar char="•"/>
            </a:pPr>
            <a:r>
              <a:rPr lang="en-US" dirty="0">
                <a:sym typeface="+mn-ea"/>
              </a:rPr>
              <a:t>The picture below shows a scatterplot when the payload mass range is set to be from 2000kg to 8000kg.</a:t>
            </a:r>
            <a:endParaRPr lang="en-US" dirty="0"/>
          </a:p>
          <a:p>
            <a:pPr>
              <a:buFont typeface="Arial" panose="020B0604020202020204" pitchFamily="34" charset="0"/>
              <a:buChar char="•"/>
            </a:pPr>
            <a:r>
              <a:rPr lang="en-US" dirty="0">
                <a:sym typeface="+mn-ea"/>
              </a:rPr>
              <a:t>Class 0 represents failed launches while class 1 represents successful launches. </a:t>
            </a:r>
            <a:endParaRPr lang="en-MY" dirty="0"/>
          </a:p>
          <a:p>
            <a:pPr>
              <a:buFont typeface="Arial" panose="020B0604020202020204" pitchFamily="34" charset="0"/>
              <a:buChar char="•"/>
            </a:pPr>
            <a:endParaRPr lang="en-US" sz="1800" dirty="0">
              <a:sym typeface="+mn-ea"/>
            </a:endParaRPr>
          </a:p>
          <a:p>
            <a:pPr marL="0" indent="0">
              <a:buNone/>
            </a:pPr>
            <a:br>
              <a:rPr lang="en-MY" sz="1800" dirty="0">
                <a:sym typeface="+mn-ea"/>
              </a:rPr>
            </a:br>
            <a:endParaRPr lang="en-MY" sz="1800" dirty="0">
              <a:sym typeface="+mn-ea"/>
            </a:endParaRPr>
          </a:p>
          <a:p>
            <a:pPr marL="457200" lvl="1" indent="0">
              <a:buNone/>
            </a:pPr>
            <a:br>
              <a:rPr lang="en-MY" dirty="0">
                <a:sym typeface="+mn-ea"/>
              </a:rPr>
            </a:br>
            <a:endParaRPr lang="en-MY" dirty="0"/>
          </a:p>
          <a:p>
            <a:pPr marL="0" indent="0">
              <a:buNone/>
            </a:pPr>
            <a:endParaRPr lang="en-US"/>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en-US" dirty="0"/>
          </a:p>
        </p:txBody>
      </p:sp>
      <p:pic>
        <p:nvPicPr>
          <p:cNvPr id="7" name="Picture 6" descr="spacex launch record plot"/>
          <p:cNvPicPr>
            <a:picLocks noChangeAspect="1"/>
          </p:cNvPicPr>
          <p:nvPr/>
        </p:nvPicPr>
        <p:blipFill>
          <a:blip r:embed="rId3"/>
          <a:stretch>
            <a:fillRect/>
          </a:stretch>
        </p:blipFill>
        <p:spPr>
          <a:xfrm>
            <a:off x="608965" y="2860675"/>
            <a:ext cx="10968355" cy="3682365"/>
          </a:xfrm>
          <a:prstGeom prst="rect">
            <a:avLst/>
          </a:prstGeom>
        </p:spPr>
      </p:pic>
    </p:spTree>
    <p:custDataLst>
      <p:tags r:id="rId4"/>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rmAutofit fontScale="90000"/>
          </a:bodyPr>
          <a:p>
            <a:r>
              <a:rPr lang="en-US" sz="1400">
                <a:solidFill>
                  <a:schemeClr val="bg2"/>
                </a:solidFill>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a:t>
            </a:r>
            <a:r>
              <a:rPr lang="en-US" sz="1555" b="1" dirty="0">
                <a:solidFill>
                  <a:schemeClr val="bg1"/>
                </a:solidFill>
                <a:latin typeface="Arial" panose="020B0604020202020204" pitchFamily="34" charset="0"/>
                <a:cs typeface="Arial" panose="020B0604020202020204" pitchFamily="34" charset="0"/>
                <a:sym typeface="+mn-ea"/>
              </a:rPr>
              <a:t>Predictive Analysis</a:t>
            </a:r>
            <a:r>
              <a:rPr lang="en-US" sz="1200">
                <a:solidFill>
                  <a:schemeClr val="bg2"/>
                </a:solidFill>
                <a:sym typeface="+mn-ea"/>
              </a:rPr>
              <a:t> </a:t>
            </a:r>
            <a:endParaRPr lang="en-US" sz="1200">
              <a:solidFill>
                <a:schemeClr val="bg2"/>
              </a:solidFill>
            </a:endParaRPr>
          </a:p>
        </p:txBody>
      </p:sp>
      <p:sp>
        <p:nvSpPr>
          <p:cNvPr id="3" name="Content Placeholder 2"/>
          <p:cNvSpPr>
            <a:spLocks noGrp="1"/>
          </p:cNvSpPr>
          <p:nvPr>
            <p:ph idx="1"/>
            <p:custDataLst>
              <p:tags r:id="rId2"/>
            </p:custDataLst>
          </p:nvPr>
        </p:nvSpPr>
        <p:spPr/>
        <p:txBody>
          <a:bodyPr/>
          <a:p>
            <a:pPr>
              <a:buFont typeface="Arial" panose="020B0604020202020204" pitchFamily="34" charset="0"/>
              <a:buChar char="•"/>
            </a:pPr>
            <a:r>
              <a:rPr lang="en-US" sz="1800" dirty="0">
                <a:sym typeface="+mn-ea"/>
              </a:rPr>
              <a:t>Logistic regression</a:t>
            </a:r>
            <a:endParaRPr lang="en-US" sz="1800" dirty="0"/>
          </a:p>
          <a:p>
            <a:pPr lvl="1"/>
            <a:r>
              <a:rPr lang="en-US" sz="1800" dirty="0" err="1">
                <a:sym typeface="+mn-ea"/>
              </a:rPr>
              <a:t>GridSearchCV</a:t>
            </a:r>
            <a:r>
              <a:rPr lang="en-US" sz="1800" dirty="0">
                <a:sym typeface="+mn-ea"/>
              </a:rPr>
              <a:t> best score: </a:t>
            </a:r>
            <a:r>
              <a:rPr lang="en-MY" sz="1800" dirty="0">
                <a:sym typeface="+mn-ea"/>
              </a:rPr>
              <a:t>0.8464285714285713</a:t>
            </a:r>
            <a:endParaRPr lang="en-MY" sz="1800" dirty="0"/>
          </a:p>
          <a:p>
            <a:pPr lvl="1"/>
            <a:r>
              <a:rPr lang="en-MY" sz="1800" dirty="0">
                <a:sym typeface="+mn-ea"/>
              </a:rPr>
              <a:t>Accuracy score on test set: 0.8333333333333334</a:t>
            </a:r>
            <a:endParaRPr lang="en-MY" sz="1800" dirty="0"/>
          </a:p>
          <a:p>
            <a:pPr lvl="1"/>
            <a:r>
              <a:rPr lang="en-MY" sz="1800" dirty="0">
                <a:sym typeface="+mn-ea"/>
              </a:rPr>
              <a:t>Confusion matrix:</a:t>
            </a:r>
            <a:endParaRPr lang="en-MY" sz="1800" dirty="0">
              <a:sym typeface="+mn-ea"/>
            </a:endParaRPr>
          </a:p>
          <a:p>
            <a:pPr lvl="1"/>
            <a:endParaRPr lang="en-MY" sz="1800" dirty="0"/>
          </a:p>
          <a:p>
            <a:pPr>
              <a:buFont typeface="Arial" panose="020B0604020202020204" pitchFamily="34" charset="0"/>
              <a:buChar char="•"/>
            </a:pPr>
            <a:endParaRPr lang="en-US" sz="1800" dirty="0">
              <a:sym typeface="+mn-ea"/>
            </a:endParaRPr>
          </a:p>
          <a:p>
            <a:pPr marL="0" indent="0">
              <a:buNone/>
            </a:pPr>
            <a:br>
              <a:rPr lang="en-MY" sz="1800" dirty="0">
                <a:sym typeface="+mn-ea"/>
              </a:rPr>
            </a:br>
            <a:endParaRPr lang="en-MY" sz="1800" dirty="0">
              <a:sym typeface="+mn-ea"/>
            </a:endParaRPr>
          </a:p>
          <a:p>
            <a:pPr marL="457200" lvl="1" indent="0">
              <a:buNone/>
            </a:pPr>
            <a:br>
              <a:rPr lang="en-MY" dirty="0">
                <a:sym typeface="+mn-ea"/>
              </a:rPr>
            </a:br>
            <a:endParaRPr lang="en-MY" dirty="0"/>
          </a:p>
          <a:p>
            <a:pPr marL="0" indent="0">
              <a:buNone/>
            </a:pPr>
            <a:endParaRPr lang="en-US"/>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endParaRPr lang="en-US" dirty="0"/>
          </a:p>
        </p:txBody>
      </p:sp>
      <p:pic>
        <p:nvPicPr>
          <p:cNvPr id="5" name="Picture 4" descr="Logistics Regression"/>
          <p:cNvPicPr>
            <a:picLocks noChangeAspect="1"/>
          </p:cNvPicPr>
          <p:nvPr/>
        </p:nvPicPr>
        <p:blipFill>
          <a:blip r:embed="rId3"/>
          <a:stretch>
            <a:fillRect/>
          </a:stretch>
        </p:blipFill>
        <p:spPr>
          <a:xfrm>
            <a:off x="5396865" y="2784475"/>
            <a:ext cx="6180455" cy="3756025"/>
          </a:xfrm>
          <a:prstGeom prst="rect">
            <a:avLst/>
          </a:prstGeom>
        </p:spPr>
      </p:pic>
    </p:spTree>
    <p:custDataLst>
      <p:tags r:id="rId4"/>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rmAutofit fontScale="90000"/>
          </a:bodyPr>
          <a:p>
            <a:r>
              <a:rPr lang="en-US" sz="1400">
                <a:solidFill>
                  <a:schemeClr val="bg2"/>
                </a:solidFill>
                <a:latin typeface="Arial" panose="020B0604020202020204" pitchFamily="34" charset="0"/>
                <a:cs typeface="Arial" panose="020B0604020202020204" pitchFamily="34" charset="0"/>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a:t>
            </a:r>
            <a:r>
              <a:rPr lang="en-US" sz="1600" b="1" dirty="0">
                <a:solidFill>
                  <a:schemeClr val="bg1"/>
                </a:solidFill>
                <a:latin typeface="Arial" panose="020B0604020202020204" pitchFamily="34" charset="0"/>
                <a:cs typeface="Arial" panose="020B0604020202020204" pitchFamily="34" charset="0"/>
                <a:sym typeface="+mn-ea"/>
              </a:rPr>
              <a:t>Predictive Analysis</a:t>
            </a:r>
            <a:endParaRPr lang="en-US" sz="1600">
              <a:solidFill>
                <a:schemeClr val="bg2"/>
              </a:solidFill>
              <a:latin typeface="Arial" panose="020B0604020202020204" pitchFamily="34" charset="0"/>
              <a:cs typeface="Arial" panose="020B0604020202020204" pitchFamily="34" charset="0"/>
            </a:endParaRPr>
          </a:p>
        </p:txBody>
      </p:sp>
      <p:sp>
        <p:nvSpPr>
          <p:cNvPr id="3" name="Content Placeholder 2"/>
          <p:cNvSpPr>
            <a:spLocks noGrp="1"/>
          </p:cNvSpPr>
          <p:nvPr>
            <p:ph idx="1"/>
            <p:custDataLst>
              <p:tags r:id="rId2"/>
            </p:custDataLst>
          </p:nvPr>
        </p:nvSpPr>
        <p:spPr/>
        <p:txBody>
          <a:bodyPr/>
          <a:p>
            <a:pPr>
              <a:buFont typeface="Arial" panose="020B0604020202020204" pitchFamily="34" charset="0"/>
              <a:buChar char="•"/>
            </a:pPr>
            <a:r>
              <a:rPr lang="en-US" dirty="0">
                <a:sym typeface="+mn-ea"/>
              </a:rPr>
              <a:t>Support vector machine (SVM)</a:t>
            </a:r>
            <a:endParaRPr lang="en-US" sz="1800" dirty="0"/>
          </a:p>
          <a:p>
            <a:pPr lvl="1"/>
            <a:r>
              <a:rPr lang="en-US" sz="1800" dirty="0" err="1">
                <a:sym typeface="+mn-ea"/>
              </a:rPr>
              <a:t>GridSearchCV</a:t>
            </a:r>
            <a:r>
              <a:rPr lang="en-US" sz="1800" dirty="0">
                <a:sym typeface="+mn-ea"/>
              </a:rPr>
              <a:t> best score: </a:t>
            </a:r>
            <a:r>
              <a:rPr lang="en-US" altLang="en-US" sz="1800" dirty="0">
                <a:sym typeface="+mn-ea"/>
              </a:rPr>
              <a:t> 0.8482142857142856</a:t>
            </a:r>
            <a:endParaRPr lang="en-US" altLang="en-US" sz="1800" dirty="0">
              <a:sym typeface="+mn-ea"/>
            </a:endParaRPr>
          </a:p>
          <a:p>
            <a:pPr lvl="1"/>
            <a:r>
              <a:rPr lang="en-MY" sz="1800" dirty="0">
                <a:sym typeface="+mn-ea"/>
              </a:rPr>
              <a:t>Accuracy score on test set: 0.8333333333333334</a:t>
            </a:r>
            <a:endParaRPr lang="en-MY" sz="1800" dirty="0"/>
          </a:p>
          <a:p>
            <a:pPr lvl="1"/>
            <a:r>
              <a:rPr lang="en-MY" sz="1800" dirty="0">
                <a:sym typeface="+mn-ea"/>
              </a:rPr>
              <a:t>Confusion matrix:</a:t>
            </a:r>
            <a:endParaRPr lang="en-MY" sz="1800" dirty="0">
              <a:sym typeface="+mn-ea"/>
            </a:endParaRPr>
          </a:p>
          <a:p>
            <a:pPr lvl="1"/>
            <a:endParaRPr lang="en-MY" sz="1800" dirty="0"/>
          </a:p>
          <a:p>
            <a:pPr>
              <a:buFont typeface="Arial" panose="020B0604020202020204" pitchFamily="34" charset="0"/>
              <a:buChar char="•"/>
            </a:pPr>
            <a:endParaRPr lang="en-US" sz="1800" dirty="0">
              <a:sym typeface="+mn-ea"/>
            </a:endParaRPr>
          </a:p>
          <a:p>
            <a:pPr marL="0" indent="0">
              <a:buNone/>
            </a:pPr>
            <a:br>
              <a:rPr lang="en-MY" sz="1800" dirty="0">
                <a:sym typeface="+mn-ea"/>
              </a:rPr>
            </a:br>
            <a:endParaRPr lang="en-MY" sz="1800" dirty="0">
              <a:sym typeface="+mn-ea"/>
            </a:endParaRPr>
          </a:p>
          <a:p>
            <a:pPr marL="457200" lvl="1" indent="0">
              <a:buNone/>
            </a:pPr>
            <a:br>
              <a:rPr lang="en-MY" dirty="0">
                <a:sym typeface="+mn-ea"/>
              </a:rPr>
            </a:br>
            <a:endParaRPr lang="en-MY" dirty="0"/>
          </a:p>
          <a:p>
            <a:pPr marL="0" indent="0">
              <a:buNone/>
            </a:pPr>
            <a:endParaRPr lang="en-US"/>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endParaRPr lang="en-US" dirty="0"/>
          </a:p>
        </p:txBody>
      </p:sp>
      <p:pic>
        <p:nvPicPr>
          <p:cNvPr id="5" name="Picture 4" descr="svm confusion matrix"/>
          <p:cNvPicPr>
            <a:picLocks noChangeAspect="1"/>
          </p:cNvPicPr>
          <p:nvPr/>
        </p:nvPicPr>
        <p:blipFill>
          <a:blip r:embed="rId3"/>
          <a:stretch>
            <a:fillRect/>
          </a:stretch>
        </p:blipFill>
        <p:spPr>
          <a:xfrm>
            <a:off x="5909945" y="2807335"/>
            <a:ext cx="5896610" cy="3723640"/>
          </a:xfrm>
          <a:prstGeom prst="rect">
            <a:avLst/>
          </a:prstGeom>
        </p:spPr>
      </p:pic>
    </p:spTree>
    <p:custDataLst>
      <p:tags r:id="rId4"/>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rmAutofit fontScale="90000"/>
          </a:bodyPr>
          <a:p>
            <a:r>
              <a:rPr lang="en-US" sz="1400">
                <a:solidFill>
                  <a:schemeClr val="bg2"/>
                </a:solidFill>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a:t>
            </a:r>
            <a:r>
              <a:rPr lang="en-US" sz="1780" b="1" dirty="0">
                <a:solidFill>
                  <a:schemeClr val="bg1"/>
                </a:solidFill>
                <a:latin typeface="Arial" panose="020B0604020202020204" pitchFamily="34" charset="0"/>
                <a:cs typeface="Arial" panose="020B0604020202020204" pitchFamily="34" charset="0"/>
                <a:sym typeface="+mn-ea"/>
              </a:rPr>
              <a:t>Predictive Analysis</a:t>
            </a:r>
            <a:r>
              <a:rPr lang="en-US" sz="1600">
                <a:solidFill>
                  <a:schemeClr val="bg2"/>
                </a:solidFill>
                <a:latin typeface="Arial" panose="020B0604020202020204" pitchFamily="34" charset="0"/>
                <a:cs typeface="Arial" panose="020B0604020202020204" pitchFamily="34" charset="0"/>
                <a:sym typeface="+mn-ea"/>
              </a:rPr>
              <a:t> </a:t>
            </a:r>
            <a:r>
              <a:rPr lang="en-US" sz="1200">
                <a:solidFill>
                  <a:schemeClr val="bg2"/>
                </a:solidFill>
                <a:sym typeface="+mn-ea"/>
              </a:rPr>
              <a:t> </a:t>
            </a:r>
            <a:endParaRPr lang="en-US" sz="1200">
              <a:solidFill>
                <a:schemeClr val="bg2"/>
              </a:solidFill>
            </a:endParaRPr>
          </a:p>
        </p:txBody>
      </p:sp>
      <p:sp>
        <p:nvSpPr>
          <p:cNvPr id="3" name="Content Placeholder 2"/>
          <p:cNvSpPr>
            <a:spLocks noGrp="1"/>
          </p:cNvSpPr>
          <p:nvPr>
            <p:ph idx="1"/>
            <p:custDataLst>
              <p:tags r:id="rId2"/>
            </p:custDataLst>
          </p:nvPr>
        </p:nvSpPr>
        <p:spPr/>
        <p:txBody>
          <a:bodyPr/>
          <a:p>
            <a:pPr>
              <a:buFont typeface="Arial" panose="020B0604020202020204" pitchFamily="34" charset="0"/>
              <a:buChar char="•"/>
            </a:pPr>
            <a:r>
              <a:rPr lang="en-US" dirty="0">
                <a:sym typeface="+mn-ea"/>
              </a:rPr>
              <a:t>Decision tree</a:t>
            </a:r>
            <a:endParaRPr lang="en-US" sz="1800" dirty="0"/>
          </a:p>
          <a:p>
            <a:pPr lvl="1"/>
            <a:r>
              <a:rPr lang="en-US" sz="1800" dirty="0" err="1">
                <a:sym typeface="+mn-ea"/>
              </a:rPr>
              <a:t>GridSearchCV</a:t>
            </a:r>
            <a:r>
              <a:rPr lang="en-US" sz="1800" dirty="0">
                <a:sym typeface="+mn-ea"/>
              </a:rPr>
              <a:t> best score: </a:t>
            </a:r>
            <a:r>
              <a:rPr lang="en-US" altLang="en-US" sz="1800" dirty="0">
                <a:sym typeface="+mn-ea"/>
              </a:rPr>
              <a:t>0.875</a:t>
            </a:r>
            <a:endParaRPr lang="en-US" altLang="en-US" sz="1800" dirty="0">
              <a:sym typeface="+mn-ea"/>
            </a:endParaRPr>
          </a:p>
          <a:p>
            <a:pPr lvl="1"/>
            <a:r>
              <a:rPr lang="en-MY" sz="1800" dirty="0">
                <a:sym typeface="+mn-ea"/>
              </a:rPr>
              <a:t>Accuracy score on test set: </a:t>
            </a:r>
            <a:r>
              <a:rPr lang="en-US" altLang="en-US" sz="1800" dirty="0">
                <a:sym typeface="+mn-ea"/>
              </a:rPr>
              <a:t>0.9444444444444444</a:t>
            </a:r>
            <a:endParaRPr lang="en-US" altLang="en-US" sz="1800" dirty="0">
              <a:sym typeface="+mn-ea"/>
            </a:endParaRPr>
          </a:p>
          <a:p>
            <a:pPr lvl="1"/>
            <a:r>
              <a:rPr lang="en-MY" sz="1800" dirty="0">
                <a:sym typeface="+mn-ea"/>
              </a:rPr>
              <a:t>Confusion matrix:</a:t>
            </a:r>
            <a:endParaRPr lang="en-MY" sz="1800" dirty="0">
              <a:sym typeface="+mn-ea"/>
            </a:endParaRPr>
          </a:p>
          <a:p>
            <a:pPr lvl="1"/>
            <a:endParaRPr lang="en-MY" sz="1800" dirty="0">
              <a:sym typeface="+mn-ea"/>
            </a:endParaRPr>
          </a:p>
          <a:p>
            <a:pPr lvl="1"/>
            <a:endParaRPr lang="en-MY" sz="1800" dirty="0"/>
          </a:p>
          <a:p>
            <a:pPr>
              <a:buFont typeface="Arial" panose="020B0604020202020204" pitchFamily="34" charset="0"/>
              <a:buChar char="•"/>
            </a:pPr>
            <a:endParaRPr lang="en-US" sz="1800" dirty="0">
              <a:sym typeface="+mn-ea"/>
            </a:endParaRPr>
          </a:p>
          <a:p>
            <a:pPr marL="0" indent="0">
              <a:buNone/>
            </a:pPr>
            <a:br>
              <a:rPr lang="en-MY" sz="1800" dirty="0">
                <a:sym typeface="+mn-ea"/>
              </a:rPr>
            </a:br>
            <a:endParaRPr lang="en-MY" sz="1800" dirty="0">
              <a:sym typeface="+mn-ea"/>
            </a:endParaRPr>
          </a:p>
          <a:p>
            <a:pPr marL="457200" lvl="1" indent="0">
              <a:buNone/>
            </a:pPr>
            <a:br>
              <a:rPr lang="en-MY" dirty="0">
                <a:sym typeface="+mn-ea"/>
              </a:rPr>
            </a:br>
            <a:endParaRPr lang="en-MY" dirty="0"/>
          </a:p>
          <a:p>
            <a:pPr marL="0" indent="0">
              <a:buNone/>
            </a:pPr>
            <a:endParaRPr lang="en-US"/>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endParaRPr lang="en-US" dirty="0"/>
          </a:p>
        </p:txBody>
      </p:sp>
      <p:pic>
        <p:nvPicPr>
          <p:cNvPr id="5" name="Picture 4" descr="decision tree confusion matrix"/>
          <p:cNvPicPr>
            <a:picLocks noChangeAspect="1"/>
          </p:cNvPicPr>
          <p:nvPr/>
        </p:nvPicPr>
        <p:blipFill>
          <a:blip r:embed="rId3"/>
          <a:stretch>
            <a:fillRect/>
          </a:stretch>
        </p:blipFill>
        <p:spPr>
          <a:xfrm>
            <a:off x="6096000" y="2881630"/>
            <a:ext cx="5835015" cy="3840480"/>
          </a:xfrm>
          <a:prstGeom prst="rect">
            <a:avLst/>
          </a:prstGeom>
        </p:spPr>
      </p:pic>
      <p:sp>
        <p:nvSpPr>
          <p:cNvPr id="6" name="Text Box 5"/>
          <p:cNvSpPr txBox="1"/>
          <p:nvPr/>
        </p:nvSpPr>
        <p:spPr>
          <a:xfrm>
            <a:off x="3048000" y="3291205"/>
            <a:ext cx="6096000" cy="275590"/>
          </a:xfrm>
          <a:prstGeom prst="rect">
            <a:avLst/>
          </a:prstGeom>
          <a:noFill/>
        </p:spPr>
        <p:txBody>
          <a:bodyPr wrap="square" rtlCol="0">
            <a:spAutoFit/>
          </a:bodyPr>
          <a:p>
            <a:r>
              <a:rPr lang="en-US" sz="1200" b="1" dirty="0">
                <a:solidFill>
                  <a:schemeClr val="bg1"/>
                </a:solidFill>
                <a:latin typeface="Tw Cen MT Condensed" panose="020B0606020104020203" pitchFamily="34" charset="77"/>
                <a:sym typeface="+mn-ea"/>
              </a:rPr>
              <a:t>Predictive Analysis</a:t>
            </a:r>
            <a:endParaRPr lang="en-US" sz="1200" b="1" dirty="0">
              <a:solidFill>
                <a:schemeClr val="bg1"/>
              </a:solidFill>
              <a:latin typeface="Tw Cen MT Condensed" panose="020B0606020104020203" pitchFamily="34" charset="77"/>
            </a:endParaRPr>
          </a:p>
        </p:txBody>
      </p:sp>
    </p:spTree>
    <p:custDataLst>
      <p:tags r:id="rId4"/>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rmAutofit fontScale="90000"/>
          </a:bodyPr>
          <a:p>
            <a:r>
              <a:rPr lang="en-US" sz="1400">
                <a:solidFill>
                  <a:schemeClr val="bg2"/>
                </a:solidFill>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a:t>
            </a:r>
            <a:r>
              <a:rPr lang="en-US" sz="1600">
                <a:solidFill>
                  <a:schemeClr val="bg2"/>
                </a:solidFill>
                <a:latin typeface="Arial" panose="020B0604020202020204" pitchFamily="34" charset="0"/>
                <a:cs typeface="Arial" panose="020B0604020202020204" pitchFamily="34" charset="0"/>
                <a:sym typeface="+mn-ea"/>
              </a:rPr>
              <a:t> </a:t>
            </a:r>
            <a:r>
              <a:rPr lang="en-US" sz="1600" b="1" dirty="0">
                <a:solidFill>
                  <a:schemeClr val="bg1"/>
                </a:solidFill>
                <a:latin typeface="Arial" panose="020B0604020202020204" pitchFamily="34" charset="0"/>
                <a:cs typeface="Arial" panose="020B0604020202020204" pitchFamily="34" charset="0"/>
                <a:sym typeface="+mn-ea"/>
              </a:rPr>
              <a:t>Predictive Analysis</a:t>
            </a:r>
            <a:r>
              <a:rPr lang="en-US" sz="1600">
                <a:solidFill>
                  <a:schemeClr val="bg2"/>
                </a:solidFill>
                <a:latin typeface="Arial" panose="020B0604020202020204" pitchFamily="34" charset="0"/>
                <a:cs typeface="Arial" panose="020B0604020202020204" pitchFamily="34" charset="0"/>
                <a:sym typeface="+mn-ea"/>
              </a:rPr>
              <a:t> </a:t>
            </a:r>
            <a:endParaRPr lang="en-US" sz="1600">
              <a:solidFill>
                <a:schemeClr val="bg2"/>
              </a:solidFill>
              <a:latin typeface="Arial" panose="020B0604020202020204" pitchFamily="34" charset="0"/>
              <a:cs typeface="Arial" panose="020B0604020202020204" pitchFamily="34" charset="0"/>
            </a:endParaRPr>
          </a:p>
        </p:txBody>
      </p:sp>
      <p:sp>
        <p:nvSpPr>
          <p:cNvPr id="3" name="Content Placeholder 2"/>
          <p:cNvSpPr>
            <a:spLocks noGrp="1"/>
          </p:cNvSpPr>
          <p:nvPr>
            <p:ph idx="1"/>
            <p:custDataLst>
              <p:tags r:id="rId2"/>
            </p:custDataLst>
          </p:nvPr>
        </p:nvSpPr>
        <p:spPr/>
        <p:txBody>
          <a:bodyPr/>
          <a:p>
            <a:pPr>
              <a:buFont typeface="Arial" panose="020B0604020202020204" pitchFamily="34" charset="0"/>
              <a:buChar char="•"/>
            </a:pPr>
            <a:r>
              <a:rPr lang="en-US" dirty="0">
                <a:sym typeface="+mn-ea"/>
              </a:rPr>
              <a:t>K nearest neighbors (KNN</a:t>
            </a:r>
            <a:endParaRPr lang="en-US" sz="1800" dirty="0"/>
          </a:p>
          <a:p>
            <a:pPr lvl="1"/>
            <a:r>
              <a:rPr lang="en-US" sz="1800" dirty="0" err="1">
                <a:sym typeface="+mn-ea"/>
              </a:rPr>
              <a:t>GridSearchCV</a:t>
            </a:r>
            <a:r>
              <a:rPr lang="en-US" sz="1800" dirty="0">
                <a:sym typeface="+mn-ea"/>
              </a:rPr>
              <a:t> best score: </a:t>
            </a:r>
            <a:r>
              <a:rPr lang="en-US" altLang="en-US" sz="1800" dirty="0">
                <a:sym typeface="+mn-ea"/>
              </a:rPr>
              <a:t>0.8482142857142858</a:t>
            </a:r>
            <a:endParaRPr lang="en-US" altLang="en-US" sz="1800" dirty="0">
              <a:sym typeface="+mn-ea"/>
            </a:endParaRPr>
          </a:p>
          <a:p>
            <a:pPr lvl="1"/>
            <a:r>
              <a:rPr lang="en-MY" sz="1800" dirty="0">
                <a:sym typeface="+mn-ea"/>
              </a:rPr>
              <a:t>Accuracy score on test set:</a:t>
            </a:r>
            <a:r>
              <a:rPr lang="en-US" altLang="en-US" sz="1800" dirty="0">
                <a:sym typeface="+mn-ea"/>
              </a:rPr>
              <a:t>0.8333333333333334</a:t>
            </a:r>
            <a:endParaRPr lang="en-US" altLang="en-US" sz="1800" dirty="0">
              <a:sym typeface="+mn-ea"/>
            </a:endParaRPr>
          </a:p>
          <a:p>
            <a:pPr lvl="1"/>
            <a:r>
              <a:rPr lang="en-MY" sz="1800" dirty="0">
                <a:sym typeface="+mn-ea"/>
              </a:rPr>
              <a:t>Confusion matrix:</a:t>
            </a:r>
            <a:endParaRPr lang="en-MY" sz="1800" dirty="0">
              <a:sym typeface="+mn-ea"/>
            </a:endParaRPr>
          </a:p>
          <a:p>
            <a:pPr lvl="1"/>
            <a:endParaRPr lang="en-MY" sz="1800" dirty="0"/>
          </a:p>
          <a:p>
            <a:pPr>
              <a:buFont typeface="Arial" panose="020B0604020202020204" pitchFamily="34" charset="0"/>
              <a:buChar char="•"/>
            </a:pPr>
            <a:endParaRPr lang="en-US" sz="1800" dirty="0">
              <a:sym typeface="+mn-ea"/>
            </a:endParaRPr>
          </a:p>
          <a:p>
            <a:pPr marL="0" indent="0">
              <a:buNone/>
            </a:pPr>
            <a:br>
              <a:rPr lang="en-MY" sz="1800" dirty="0">
                <a:sym typeface="+mn-ea"/>
              </a:rPr>
            </a:br>
            <a:endParaRPr lang="en-MY" sz="1800" dirty="0">
              <a:sym typeface="+mn-ea"/>
            </a:endParaRPr>
          </a:p>
          <a:p>
            <a:pPr marL="457200" lvl="1" indent="0">
              <a:buNone/>
            </a:pPr>
            <a:br>
              <a:rPr lang="en-MY" dirty="0">
                <a:sym typeface="+mn-ea"/>
              </a:rPr>
            </a:br>
            <a:endParaRPr lang="en-MY" dirty="0"/>
          </a:p>
          <a:p>
            <a:pPr marL="0" indent="0">
              <a:buNone/>
            </a:pPr>
            <a:endParaRPr lang="en-US"/>
          </a:p>
          <a:p>
            <a:pPr marL="0" indent="0">
              <a:buNone/>
            </a:pPr>
            <a:endParaRPr lang="en-US"/>
          </a:p>
        </p:txBody>
      </p:sp>
      <p:sp>
        <p:nvSpPr>
          <p:cNvPr id="4" name="Oval 3"/>
          <p:cNvSpPr/>
          <p:nvPr/>
        </p:nvSpPr>
        <p:spPr>
          <a:xfrm>
            <a:off x="91745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endParaRPr lang="en-US" dirty="0"/>
          </a:p>
        </p:txBody>
      </p:sp>
      <p:pic>
        <p:nvPicPr>
          <p:cNvPr id="5" name="Picture 4" descr="knn confusion matrix"/>
          <p:cNvPicPr>
            <a:picLocks noChangeAspect="1"/>
          </p:cNvPicPr>
          <p:nvPr/>
        </p:nvPicPr>
        <p:blipFill>
          <a:blip r:embed="rId3"/>
          <a:stretch>
            <a:fillRect/>
          </a:stretch>
        </p:blipFill>
        <p:spPr>
          <a:xfrm>
            <a:off x="6395085" y="2835275"/>
            <a:ext cx="5032375" cy="3802380"/>
          </a:xfrm>
          <a:prstGeom prst="rect">
            <a:avLst/>
          </a:prstGeom>
        </p:spPr>
      </p:pic>
    </p:spTree>
    <p:custDataLst>
      <p:tags r:id="rId4"/>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rmAutofit fontScale="90000"/>
          </a:bodyPr>
          <a:p>
            <a:r>
              <a:rPr lang="en-US" sz="1400">
                <a:solidFill>
                  <a:schemeClr val="bg2"/>
                </a:solidFill>
              </a:rPr>
              <a:t>RESULTS</a:t>
            </a:r>
            <a:br>
              <a:rPr lang="en-US" sz="1200">
                <a:solidFill>
                  <a:schemeClr val="bg2"/>
                </a:solidFill>
              </a:rPr>
            </a:br>
            <a:r>
              <a:rPr lang="en-US" sz="1200">
                <a:solidFill>
                  <a:schemeClr val="bg2"/>
                </a:solidFill>
                <a:sym typeface="+mn-ea"/>
              </a:rPr>
              <a:t> </a:t>
            </a:r>
            <a:br>
              <a:rPr lang="en-US" sz="1200">
                <a:solidFill>
                  <a:schemeClr val="bg2"/>
                </a:solidFill>
                <a:sym typeface="+mn-ea"/>
              </a:rPr>
            </a:br>
            <a:r>
              <a:rPr lang="en-US" sz="1200">
                <a:solidFill>
                  <a:schemeClr val="bg2"/>
                </a:solidFill>
                <a:sym typeface="+mn-ea"/>
              </a:rPr>
              <a:t>             </a:t>
            </a:r>
            <a:r>
              <a:rPr lang="en-US" sz="1600">
                <a:solidFill>
                  <a:schemeClr val="bg2"/>
                </a:solidFill>
                <a:latin typeface="Arial" panose="020B0604020202020204" pitchFamily="34" charset="0"/>
                <a:cs typeface="Arial" panose="020B0604020202020204" pitchFamily="34" charset="0"/>
                <a:sym typeface="+mn-ea"/>
              </a:rPr>
              <a:t> </a:t>
            </a:r>
            <a:r>
              <a:rPr lang="en-US" sz="1600" b="1" dirty="0">
                <a:solidFill>
                  <a:schemeClr val="bg1"/>
                </a:solidFill>
                <a:latin typeface="Arial" panose="020B0604020202020204" pitchFamily="34" charset="0"/>
                <a:cs typeface="Arial" panose="020B0604020202020204" pitchFamily="34" charset="0"/>
                <a:sym typeface="+mn-ea"/>
              </a:rPr>
              <a:t>Predictive Analysis</a:t>
            </a:r>
            <a:r>
              <a:rPr lang="en-US" sz="1200">
                <a:solidFill>
                  <a:schemeClr val="bg2"/>
                </a:solidFill>
                <a:sym typeface="+mn-ea"/>
              </a:rPr>
              <a:t> </a:t>
            </a:r>
            <a:endParaRPr lang="en-US" sz="1200">
              <a:solidFill>
                <a:schemeClr val="bg2"/>
              </a:solidFill>
            </a:endParaRPr>
          </a:p>
        </p:txBody>
      </p:sp>
      <p:sp>
        <p:nvSpPr>
          <p:cNvPr id="3" name="Content Placeholder 2"/>
          <p:cNvSpPr>
            <a:spLocks noGrp="1"/>
          </p:cNvSpPr>
          <p:nvPr>
            <p:ph idx="1"/>
            <p:custDataLst>
              <p:tags r:id="rId2"/>
            </p:custDataLst>
          </p:nvPr>
        </p:nvSpPr>
        <p:spPr/>
        <p:txBody>
          <a:bodyPr>
            <a:normAutofit fontScale="25000"/>
          </a:bodyPr>
          <a:p>
            <a:pPr lvl="1"/>
            <a:r>
              <a:rPr lang="en-US" sz="6000" dirty="0">
                <a:sym typeface="+mn-ea"/>
              </a:rPr>
              <a:t>Putting the results of all 4 models side by side, we can see that they all share the same accuracy score and confusion matrix when tested on the test set. </a:t>
            </a:r>
            <a:endParaRPr lang="en-US" sz="6000" dirty="0"/>
          </a:p>
          <a:p>
            <a:pPr lvl="1"/>
            <a:r>
              <a:rPr lang="en-US" sz="6000" dirty="0">
                <a:sym typeface="+mn-ea"/>
              </a:rPr>
              <a:t>Therefore, their </a:t>
            </a:r>
            <a:r>
              <a:rPr lang="en-US" sz="6000" dirty="0" err="1">
                <a:sym typeface="+mn-ea"/>
              </a:rPr>
              <a:t>GridSearchCV</a:t>
            </a:r>
            <a:r>
              <a:rPr lang="en-US" sz="6000" dirty="0">
                <a:sym typeface="+mn-ea"/>
              </a:rPr>
              <a:t> best scores are used to rank them instead. Based on the </a:t>
            </a:r>
            <a:r>
              <a:rPr lang="en-US" sz="6000" dirty="0" err="1">
                <a:sym typeface="+mn-ea"/>
              </a:rPr>
              <a:t>GridSearchCV</a:t>
            </a:r>
            <a:r>
              <a:rPr lang="en-US" sz="6000" dirty="0">
                <a:sym typeface="+mn-ea"/>
              </a:rPr>
              <a:t> best scores, the models are ranked in the following order with the first being the best and the last one being the worst:</a:t>
            </a:r>
            <a:endParaRPr lang="en-US" sz="6000" dirty="0">
              <a:sym typeface="+mn-ea"/>
            </a:endParaRPr>
          </a:p>
          <a:p>
            <a:pPr marL="457200" lvl="1" indent="0">
              <a:buNone/>
            </a:pPr>
            <a:endParaRPr lang="en-US" sz="6000" dirty="0"/>
          </a:p>
          <a:p>
            <a:pPr marL="800100" lvl="1" indent="-342900">
              <a:buFont typeface="+mj-lt"/>
              <a:buAutoNum type="arabicPeriod"/>
            </a:pPr>
            <a:r>
              <a:rPr lang="en-MY" sz="6000" dirty="0">
                <a:sym typeface="+mn-ea"/>
              </a:rPr>
              <a:t>Decision tree (</a:t>
            </a:r>
            <a:r>
              <a:rPr lang="en-MY" sz="6000" dirty="0" err="1">
                <a:sym typeface="+mn-ea"/>
              </a:rPr>
              <a:t>GridSearchCV</a:t>
            </a:r>
            <a:r>
              <a:rPr lang="en-MY" sz="6000" dirty="0">
                <a:sym typeface="+mn-ea"/>
              </a:rPr>
              <a:t> best score: </a:t>
            </a:r>
            <a:r>
              <a:rPr lang="en-US" altLang="en-US" sz="6000" dirty="0">
                <a:sym typeface="+mn-ea"/>
              </a:rPr>
              <a:t>0.875000</a:t>
            </a:r>
            <a:r>
              <a:rPr lang="en-MY" sz="6000" dirty="0">
                <a:sym typeface="+mn-ea"/>
              </a:rPr>
              <a:t> </a:t>
            </a:r>
            <a:endParaRPr lang="en-MY" sz="6000" dirty="0"/>
          </a:p>
          <a:p>
            <a:pPr marL="800100" lvl="1" indent="-342900">
              <a:buFont typeface="+mj-lt"/>
              <a:buAutoNum type="arabicPeriod"/>
            </a:pPr>
            <a:r>
              <a:rPr lang="en-MY" sz="6000" dirty="0">
                <a:sym typeface="+mn-ea"/>
              </a:rPr>
              <a:t>K nearest </a:t>
            </a:r>
            <a:r>
              <a:rPr lang="en-MY" sz="6000" dirty="0" err="1">
                <a:sym typeface="+mn-ea"/>
              </a:rPr>
              <a:t>neighbors</a:t>
            </a:r>
            <a:r>
              <a:rPr lang="en-MY" sz="6000" dirty="0">
                <a:sym typeface="+mn-ea"/>
              </a:rPr>
              <a:t>, KNN (</a:t>
            </a:r>
            <a:r>
              <a:rPr lang="en-MY" sz="6000" dirty="0" err="1">
                <a:sym typeface="+mn-ea"/>
              </a:rPr>
              <a:t>GridSearchCV</a:t>
            </a:r>
            <a:r>
              <a:rPr lang="en-MY" sz="6000" dirty="0">
                <a:sym typeface="+mn-ea"/>
              </a:rPr>
              <a:t> best score:</a:t>
            </a:r>
            <a:r>
              <a:rPr lang="en-US" sz="6000" dirty="0">
                <a:sym typeface="+mn-ea"/>
              </a:rPr>
              <a:t> </a:t>
            </a:r>
            <a:r>
              <a:rPr lang="en-US" altLang="en-US" sz="6000" dirty="0">
                <a:sym typeface="+mn-ea"/>
              </a:rPr>
              <a:t>0.848214</a:t>
            </a:r>
            <a:endParaRPr lang="en-US" altLang="en-US" sz="6000" dirty="0">
              <a:sym typeface="+mn-ea"/>
            </a:endParaRPr>
          </a:p>
          <a:p>
            <a:pPr marL="800100" lvl="1" indent="-342900">
              <a:buFont typeface="+mj-lt"/>
              <a:buAutoNum type="arabicPeriod"/>
            </a:pPr>
            <a:r>
              <a:rPr lang="en-MY" sz="6000" dirty="0">
                <a:sym typeface="+mn-ea"/>
              </a:rPr>
              <a:t>Support vector machine, SVM (</a:t>
            </a:r>
            <a:r>
              <a:rPr lang="en-MY" sz="6000" dirty="0" err="1">
                <a:sym typeface="+mn-ea"/>
              </a:rPr>
              <a:t>GridSearchCV</a:t>
            </a:r>
            <a:r>
              <a:rPr lang="en-MY" sz="6000" dirty="0">
                <a:sym typeface="+mn-ea"/>
              </a:rPr>
              <a:t> best score: </a:t>
            </a:r>
            <a:r>
              <a:rPr lang="en-US" altLang="en-US" sz="6000" dirty="0">
                <a:sym typeface="+mn-ea"/>
              </a:rPr>
              <a:t>0.848214</a:t>
            </a:r>
            <a:endParaRPr lang="en-US" altLang="en-US" sz="6000" dirty="0">
              <a:sym typeface="+mn-ea"/>
            </a:endParaRPr>
          </a:p>
          <a:p>
            <a:pPr marL="800100" lvl="1" indent="-342900">
              <a:buFont typeface="+mj-lt"/>
              <a:buAutoNum type="arabicPeriod"/>
            </a:pPr>
            <a:r>
              <a:rPr lang="en-MY" sz="6000" dirty="0">
                <a:sym typeface="+mn-ea"/>
              </a:rPr>
              <a:t>Logistic regression (</a:t>
            </a:r>
            <a:r>
              <a:rPr lang="en-MY" sz="6000" dirty="0" err="1">
                <a:sym typeface="+mn-ea"/>
              </a:rPr>
              <a:t>GridSearchCV</a:t>
            </a:r>
            <a:r>
              <a:rPr lang="en-MY" sz="6000" dirty="0">
                <a:sym typeface="+mn-ea"/>
              </a:rPr>
              <a:t> best score: </a:t>
            </a:r>
            <a:r>
              <a:rPr lang="en-US" altLang="en-US" sz="6000" dirty="0">
                <a:sym typeface="+mn-ea"/>
              </a:rPr>
              <a:t>0.846429</a:t>
            </a:r>
            <a:endParaRPr lang="en-US" altLang="en-US" sz="6000" dirty="0">
              <a:sym typeface="+mn-ea"/>
            </a:endParaRPr>
          </a:p>
          <a:p>
            <a:pPr lvl="1"/>
            <a:endParaRPr lang="en-MY" sz="6000" dirty="0"/>
          </a:p>
          <a:p>
            <a:pPr>
              <a:buFont typeface="Arial" panose="020B0604020202020204" pitchFamily="34" charset="0"/>
              <a:buChar char="•"/>
            </a:pPr>
            <a:endParaRPr lang="en-US" sz="6000" dirty="0">
              <a:sym typeface="+mn-ea"/>
            </a:endParaRPr>
          </a:p>
          <a:p>
            <a:pPr marL="0" indent="0">
              <a:buNone/>
            </a:pPr>
            <a:br>
              <a:rPr lang="en-MY" sz="1800" dirty="0">
                <a:sym typeface="+mn-ea"/>
              </a:rPr>
            </a:br>
            <a:endParaRPr lang="en-MY" sz="1800" dirty="0">
              <a:sym typeface="+mn-ea"/>
            </a:endParaRPr>
          </a:p>
          <a:p>
            <a:pPr marL="457200" lvl="1" indent="0">
              <a:buNone/>
            </a:pPr>
            <a:br>
              <a:rPr lang="en-MY" dirty="0">
                <a:sym typeface="+mn-ea"/>
              </a:rPr>
            </a:br>
            <a:endParaRPr lang="en-MY" dirty="0"/>
          </a:p>
          <a:p>
            <a:pPr marL="0" indent="0">
              <a:buNone/>
            </a:pPr>
            <a:endParaRPr lang="en-US"/>
          </a:p>
          <a:p>
            <a:pPr marL="0" indent="0">
              <a:buNone/>
            </a:pPr>
            <a:endParaRPr lang="en-US"/>
          </a:p>
        </p:txBody>
      </p:sp>
      <p:sp>
        <p:nvSpPr>
          <p:cNvPr id="4" name="Oval 3"/>
          <p:cNvSpPr/>
          <p:nvPr/>
        </p:nvSpPr>
        <p:spPr>
          <a:xfrm>
            <a:off x="843791" y="8818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endParaRPr lang="en-US" dirty="0"/>
          </a:p>
        </p:txBody>
      </p:sp>
    </p:spTree>
    <p:custDataLst>
      <p:tags r:id="rId3"/>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normAutofit fontScale="90000"/>
          </a:bodyPr>
          <a:p>
            <a:pPr marL="457200" indent="-457200" algn="l">
              <a:buAutoNum type="arabicPeriod"/>
            </a:pPr>
            <a:br>
              <a:rPr lang="en-US" sz="2220">
                <a:solidFill>
                  <a:schemeClr val="bg2"/>
                </a:solidFill>
              </a:rPr>
            </a:br>
            <a:br>
              <a:rPr lang="en-US" sz="2220">
                <a:solidFill>
                  <a:schemeClr val="bg2"/>
                </a:solidFill>
              </a:rPr>
            </a:br>
            <a:r>
              <a:rPr lang="en-US" sz="2220">
                <a:solidFill>
                  <a:schemeClr val="bg2"/>
                </a:solidFill>
              </a:rPr>
              <a:t>   </a:t>
            </a:r>
            <a:r>
              <a:rPr lang="en-US" sz="3110">
                <a:solidFill>
                  <a:schemeClr val="bg2"/>
                </a:solidFill>
              </a:rPr>
              <a:t>DISCUSSION</a:t>
            </a:r>
            <a:br>
              <a:rPr lang="en-US" sz="2220">
                <a:solidFill>
                  <a:schemeClr val="bg2"/>
                </a:solidFill>
              </a:rPr>
            </a:br>
            <a:r>
              <a:rPr lang="en-US" sz="2220">
                <a:solidFill>
                  <a:schemeClr val="bg2"/>
                </a:solidFill>
                <a:sym typeface="+mn-ea"/>
              </a:rPr>
              <a:t> </a:t>
            </a:r>
            <a:br>
              <a:rPr lang="en-US" sz="3110">
                <a:solidFill>
                  <a:schemeClr val="bg2"/>
                </a:solidFill>
                <a:sym typeface="+mn-ea"/>
              </a:rPr>
            </a:br>
            <a:r>
              <a:rPr lang="en-US" sz="3110">
                <a:solidFill>
                  <a:schemeClr val="bg2"/>
                </a:solidFill>
                <a:sym typeface="+mn-ea"/>
              </a:rPr>
              <a:t>   </a:t>
            </a:r>
            <a:endParaRPr lang="en-US" sz="3110">
              <a:solidFill>
                <a:schemeClr val="bg2"/>
              </a:solidFill>
              <a:sym typeface="+mn-ea"/>
            </a:endParaRPr>
          </a:p>
        </p:txBody>
      </p:sp>
      <p:sp>
        <p:nvSpPr>
          <p:cNvPr id="3" name="Content Placeholder 2"/>
          <p:cNvSpPr>
            <a:spLocks noGrp="1"/>
          </p:cNvSpPr>
          <p:nvPr>
            <p:ph idx="1"/>
            <p:custDataLst>
              <p:tags r:id="rId2"/>
            </p:custDataLst>
          </p:nvPr>
        </p:nvSpPr>
        <p:spPr/>
        <p:txBody>
          <a:bodyPr>
            <a:normAutofit fontScale="50000"/>
          </a:bodyPr>
          <a:p>
            <a:pPr lvl="1"/>
            <a:r>
              <a:rPr lang="en-US" sz="3000" dirty="0">
                <a:sym typeface="+mn-ea"/>
              </a:rPr>
              <a:t>From the data visualization section, we can see that some features may have correlation with the mission outcome in several ways. For example, </a:t>
            </a:r>
            <a:r>
              <a:rPr lang="en-MY" sz="3000" dirty="0">
                <a:sym typeface="+mn-ea"/>
              </a:rPr>
              <a:t>with heavy payloads the successful landing or positive landing rate are more for orbit types Polar, LEO and ISS. However, for GTO, we cannot distinguish this well as both positive landing rate and negative landing(unsuccessful mission) are both there here.</a:t>
            </a:r>
            <a:endParaRPr lang="en-MY" sz="3000" dirty="0">
              <a:sym typeface="+mn-ea"/>
            </a:endParaRPr>
          </a:p>
          <a:p>
            <a:pPr marL="457200" lvl="1" indent="0">
              <a:buNone/>
            </a:pPr>
            <a:endParaRPr lang="en-MY" sz="3000" dirty="0"/>
          </a:p>
          <a:p>
            <a:pPr lvl="1"/>
            <a:r>
              <a:rPr lang="en-MY" sz="3000" dirty="0">
                <a:sym typeface="+mn-ea"/>
              </a:rPr>
              <a:t>Therefore, each feature may have a certain impact on the final mission outcome. The exact ways of how each of these features impact the mission outcome are difficult to decipher. However, we can use some machine learning algorithms to learn the pattern of the past data and predict whether a mission will be successful or not based on the given features.</a:t>
            </a:r>
            <a:endParaRPr lang="en-MY" sz="3000" dirty="0"/>
          </a:p>
          <a:p>
            <a:pPr lvl="1"/>
            <a:endParaRPr lang="en-MY" sz="3000" dirty="0"/>
          </a:p>
          <a:p>
            <a:pPr>
              <a:buFont typeface="Arial" panose="020B0604020202020204" pitchFamily="34" charset="0"/>
              <a:buChar char="•"/>
            </a:pPr>
            <a:endParaRPr lang="en-US" sz="1800" dirty="0">
              <a:sym typeface="+mn-ea"/>
            </a:endParaRPr>
          </a:p>
          <a:p>
            <a:pPr marL="0" indent="0">
              <a:buNone/>
            </a:pPr>
            <a:br>
              <a:rPr lang="en-MY" sz="1800" dirty="0">
                <a:sym typeface="+mn-ea"/>
              </a:rPr>
            </a:br>
            <a:endParaRPr lang="en-MY" sz="1800" dirty="0">
              <a:sym typeface="+mn-ea"/>
            </a:endParaRPr>
          </a:p>
          <a:p>
            <a:pPr marL="457200" lvl="1" indent="0">
              <a:buNone/>
            </a:pPr>
            <a:br>
              <a:rPr lang="en-MY" dirty="0">
                <a:sym typeface="+mn-ea"/>
              </a:rPr>
            </a:br>
            <a:endParaRPr lang="en-MY" dirty="0"/>
          </a:p>
          <a:p>
            <a:pPr marL="0" indent="0">
              <a:buNone/>
            </a:pPr>
            <a:endParaRPr lang="en-US"/>
          </a:p>
          <a:p>
            <a:pPr marL="0" indent="0">
              <a:buNone/>
            </a:pPr>
            <a:endParaRPr lang="en-US"/>
          </a:p>
        </p:txBody>
      </p:sp>
    </p:spTree>
    <p:custDataLst>
      <p:tags r:id="rId3"/>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solidFill>
            <a:schemeClr val="tx1"/>
          </a:solidFill>
        </p:spPr>
        <p:txBody>
          <a:bodyPr/>
          <a:p>
            <a:pPr algn="l">
              <a:lnSpc>
                <a:spcPct val="100000"/>
              </a:lnSpc>
            </a:pPr>
            <a:r>
              <a:rPr lang="en-US" sz="2800">
                <a:solidFill>
                  <a:schemeClr val="bg2"/>
                </a:solidFill>
              </a:rPr>
              <a:t>       CONCLUSION</a:t>
            </a:r>
            <a:endParaRPr lang="en-US" sz="2800">
              <a:solidFill>
                <a:schemeClr val="bg2"/>
              </a:solidFill>
            </a:endParaRPr>
          </a:p>
        </p:txBody>
      </p:sp>
      <p:sp>
        <p:nvSpPr>
          <p:cNvPr id="3" name="Content Placeholder 2"/>
          <p:cNvSpPr>
            <a:spLocks noGrp="1"/>
          </p:cNvSpPr>
          <p:nvPr>
            <p:ph idx="1"/>
            <p:custDataLst>
              <p:tags r:id="rId2"/>
            </p:custDataLst>
          </p:nvPr>
        </p:nvSpPr>
        <p:spPr/>
        <p:txBody>
          <a:bodyPr>
            <a:normAutofit fontScale="80000"/>
          </a:bodyPr>
          <a:p>
            <a:pPr lvl="1"/>
            <a:r>
              <a:rPr lang="en-MY" sz="1800" dirty="0">
                <a:sym typeface="+mn-ea"/>
              </a:rPr>
              <a:t>In this project, we try to predict if the first stage of a given Falcon 9 launch will land in order to determine the cost of a launch.</a:t>
            </a:r>
            <a:endParaRPr lang="en-MY" sz="1800" dirty="0"/>
          </a:p>
          <a:p>
            <a:pPr lvl="1"/>
            <a:r>
              <a:rPr lang="en-MY" sz="1800" dirty="0">
                <a:sym typeface="+mn-ea"/>
              </a:rPr>
              <a:t>Each feature of a Falcon 9 launch, such as its payload mass or orbit type, may affect the mission outcome in a certain way. </a:t>
            </a:r>
            <a:endParaRPr lang="en-MY" sz="1800" dirty="0"/>
          </a:p>
          <a:p>
            <a:pPr lvl="1"/>
            <a:r>
              <a:rPr lang="en-MY" sz="1800" dirty="0">
                <a:sym typeface="+mn-ea"/>
              </a:rPr>
              <a:t>Several machine learning algorithms are employed to learn the patterns of past Falcon 9 launch data to produce predictive models that can be used to predict the outcome of a Falcon 9 launch.</a:t>
            </a:r>
            <a:endParaRPr lang="en-MY" sz="1800" dirty="0"/>
          </a:p>
          <a:p>
            <a:pPr lvl="1"/>
            <a:r>
              <a:rPr lang="en-MY" sz="1800" dirty="0">
                <a:sym typeface="+mn-ea"/>
              </a:rPr>
              <a:t>The predictive model produced by decision tree algorithm performed the best among the 4 machine learning algorithms employed. </a:t>
            </a:r>
            <a:endParaRPr lang="en-US" sz="1800" dirty="0"/>
          </a:p>
          <a:p>
            <a:pPr lvl="1"/>
            <a:endParaRPr lang="en-MY" sz="1800" dirty="0"/>
          </a:p>
          <a:p>
            <a:pPr>
              <a:buFont typeface="Arial" panose="020B0604020202020204" pitchFamily="34" charset="0"/>
              <a:buChar char="•"/>
            </a:pPr>
            <a:endParaRPr lang="en-US" sz="1800" dirty="0">
              <a:sym typeface="+mn-ea"/>
            </a:endParaRPr>
          </a:p>
          <a:p>
            <a:pPr marL="0" indent="0">
              <a:buNone/>
            </a:pPr>
            <a:br>
              <a:rPr lang="en-MY" sz="1800" dirty="0">
                <a:sym typeface="+mn-ea"/>
              </a:rPr>
            </a:br>
            <a:endParaRPr lang="en-MY" sz="1800" dirty="0">
              <a:sym typeface="+mn-ea"/>
            </a:endParaRPr>
          </a:p>
          <a:p>
            <a:pPr marL="457200" lvl="1" indent="0">
              <a:buNone/>
            </a:pPr>
            <a:br>
              <a:rPr lang="en-MY" dirty="0">
                <a:sym typeface="+mn-ea"/>
              </a:rPr>
            </a:br>
            <a:endParaRPr lang="en-MY" dirty="0"/>
          </a:p>
          <a:p>
            <a:pPr marL="0" indent="0">
              <a:buNone/>
            </a:pPr>
            <a:endParaRPr lang="en-US"/>
          </a:p>
          <a:p>
            <a:pPr marL="0" indent="0">
              <a:buNone/>
            </a:pPr>
            <a:endParaRPr 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BEAUTIFY_FLAG" val="#wm#"/>
  <p:tag name="KSO_WM_TEMPLATE_CATEGORY" val="custom"/>
  <p:tag name="KSO_WM_TEMPLATE_INDEX" val="2020508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BEAUTIFY_FLAG" val="#wm#"/>
  <p:tag name="KSO_WM_TEMPLATE_CATEGORY" val="custom"/>
  <p:tag name="KSO_WM_TEMPLATE_INDEX" val="2020508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BEAUTIFY_FLAG" val="#wm#"/>
  <p:tag name="KSO_WM_TEMPLATE_CATEGORY" val="custom"/>
  <p:tag name="KSO_WM_TEMPLATE_INDEX" val="2020508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p="http://schemas.openxmlformats.org/presentationml/2006/main">
  <p:tag name="KSO_WM_BEAUTIFY_FLAG" val="#wm#"/>
  <p:tag name="KSO_WM_TEMPLATE_CATEGORY" val="custom"/>
  <p:tag name="KSO_WM_TEMPLATE_INDEX" val="2020508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p="http://schemas.openxmlformats.org/presentationml/2006/main">
  <p:tag name="KSO_WM_BEAUTIFY_FLAG" val="#wm#"/>
  <p:tag name="KSO_WM_TEMPLATE_CATEGORY" val="custom"/>
  <p:tag name="KSO_WM_TEMPLATE_INDEX" val="2020508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p="http://schemas.openxmlformats.org/presentationml/2006/main">
  <p:tag name="KSO_WM_BEAUTIFY_FLAG" val="#wm#"/>
  <p:tag name="KSO_WM_TEMPLATE_CATEGORY" val="custom"/>
  <p:tag name="KSO_WM_TEMPLATE_INDEX" val="2020508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p="http://schemas.openxmlformats.org/presentationml/2006/main">
  <p:tag name="KSO_WM_BEAUTIFY_FLAG" val="#wm#"/>
  <p:tag name="KSO_WM_TEMPLATE_CATEGORY" val="custom"/>
  <p:tag name="KSO_WM_TEMPLATE_INDEX" val="2020508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p="http://schemas.openxmlformats.org/presentationml/2006/main">
  <p:tag name="KSO_WM_BEAUTIFY_FLAG" val="#wm#"/>
  <p:tag name="KSO_WM_TEMPLATE_CATEGORY" val="custom"/>
  <p:tag name="KSO_WM_TEMPLATE_INDEX" val="2020508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0.xml><?xml version="1.0" encoding="utf-8"?>
<p:tagLst xmlns:p="http://schemas.openxmlformats.org/presentationml/2006/main">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p="http://schemas.openxmlformats.org/presentationml/2006/main">
  <p:tag name="KSO_WM_BEAUTIFY_FLAG" val="#wm#"/>
  <p:tag name="KSO_WM_TEMPLATE_CATEGORY" val="custom"/>
  <p:tag name="KSO_WM_TEMPLATE_INDEX" val="2020508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6.xml><?xml version="1.0" encoding="utf-8"?>
<p:tagLst xmlns:p="http://schemas.openxmlformats.org/presentationml/2006/main">
  <p:tag name="KSO_WM_BEAUTIFY_FLAG" val="#wm#"/>
  <p:tag name="KSO_WM_TEMPLATE_CATEGORY" val="custom"/>
  <p:tag name="KSO_WM_TEMPLATE_INDEX" val="2020508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p="http://schemas.openxmlformats.org/presentationml/2006/main">
  <p:tag name="KSO_WM_BEAUTIFY_FLAG" val="#wm#"/>
  <p:tag name="KSO_WM_TEMPLATE_CATEGORY" val="custom"/>
  <p:tag name="KSO_WM_TEMPLATE_INDEX" val="2020508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p="http://schemas.openxmlformats.org/presentationml/2006/main">
  <p:tag name="KSO_WM_BEAUTIFY_FLAG" val="#wm#"/>
  <p:tag name="KSO_WM_TEMPLATE_CATEGORY" val="custom"/>
  <p:tag name="KSO_WM_TEMPLATE_INDEX" val="2020508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p="http://schemas.openxmlformats.org/presentationml/2006/main">
  <p:tag name="KSO_WM_BEAUTIFY_FLAG" val="#wm#"/>
  <p:tag name="KSO_WM_TEMPLATE_CATEGORY" val="custom"/>
  <p:tag name="KSO_WM_TEMPLATE_INDEX" val="2020508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8.xml><?xml version="1.0" encoding="utf-8"?>
<p:tagLst xmlns:p="http://schemas.openxmlformats.org/presentationml/2006/main">
  <p:tag name="KSO_WM_BEAUTIFY_FLAG" val="#wm#"/>
  <p:tag name="KSO_WM_TEMPLATE_CATEGORY" val="custom"/>
  <p:tag name="KSO_WM_TEMPLATE_INDEX" val="2020508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p="http://schemas.openxmlformats.org/presentationml/2006/main">
  <p:tag name="KSO_WM_BEAUTIFY_FLAG" val="#wm#"/>
  <p:tag name="KSO_WM_TEMPLATE_CATEGORY" val="custom"/>
  <p:tag name="KSO_WM_TEMPLATE_INDEX" val="2020508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4.xml><?xml version="1.0" encoding="utf-8"?>
<p:tagLst xmlns:p="http://schemas.openxmlformats.org/presentationml/2006/main">
  <p:tag name="KSO_WM_BEAUTIFY_FLAG" val="#wm#"/>
  <p:tag name="KSO_WM_TEMPLATE_CATEGORY" val="custom"/>
  <p:tag name="KSO_WM_TEMPLATE_INDEX" val="2020508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7.xml><?xml version="1.0" encoding="utf-8"?>
<p:tagLst xmlns:p="http://schemas.openxmlformats.org/presentationml/2006/main">
  <p:tag name="KSO_WM_BEAUTIFY_FLAG" val="#wm#"/>
  <p:tag name="KSO_WM_TEMPLATE_CATEGORY" val="custom"/>
  <p:tag name="KSO_WM_TEMPLATE_INDEX" val="2020508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0.xml><?xml version="1.0" encoding="utf-8"?>
<p:tagLst xmlns:p="http://schemas.openxmlformats.org/presentationml/2006/main">
  <p:tag name="KSO_WM_BEAUTIFY_FLAG" val="#wm#"/>
  <p:tag name="KSO_WM_TEMPLATE_CATEGORY" val="custom"/>
  <p:tag name="KSO_WM_TEMPLATE_INDEX" val="2020508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3.xml><?xml version="1.0" encoding="utf-8"?>
<p:tagLst xmlns:p="http://schemas.openxmlformats.org/presentationml/2006/main">
  <p:tag name="KSO_WM_BEAUTIFY_FLAG" val="#wm#"/>
  <p:tag name="KSO_WM_TEMPLATE_CATEGORY" val="custom"/>
  <p:tag name="KSO_WM_TEMPLATE_INDEX" val="2020508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p="http://schemas.openxmlformats.org/presentationml/2006/main">
  <p:tag name="KSO_WM_BEAUTIFY_FLAG" val="#wm#"/>
  <p:tag name="KSO_WM_TEMPLATE_CATEGORY" val="custom"/>
  <p:tag name="KSO_WM_TEMPLATE_INDEX" val="2020508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9.xml><?xml version="1.0" encoding="utf-8"?>
<p:tagLst xmlns:p="http://schemas.openxmlformats.org/presentationml/2006/main">
  <p:tag name="KSO_WM_BEAUTIFY_FLAG" val="#wm#"/>
  <p:tag name="KSO_WM_TEMPLATE_CATEGORY" val="custom"/>
  <p:tag name="KSO_WM_TEMPLATE_INDEX" val="2020508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2.xml><?xml version="1.0" encoding="utf-8"?>
<p:tagLst xmlns:p="http://schemas.openxmlformats.org/presentationml/2006/main">
  <p:tag name="KSO_WM_BEAUTIFY_FLAG" val="#wm#"/>
  <p:tag name="KSO_WM_TEMPLATE_CATEGORY" val="custom"/>
  <p:tag name="KSO_WM_TEMPLATE_INDEX" val="2020508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5.xml><?xml version="1.0" encoding="utf-8"?>
<p:tagLst xmlns:p="http://schemas.openxmlformats.org/presentationml/2006/main">
  <p:tag name="KSO_WM_BEAUTIFY_FLAG" val="#wm#"/>
  <p:tag name="KSO_WM_TEMPLATE_CATEGORY" val="custom"/>
  <p:tag name="KSO_WM_TEMPLATE_INDEX" val="2020508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8.xml><?xml version="1.0" encoding="utf-8"?>
<p:tagLst xmlns:p="http://schemas.openxmlformats.org/presentationml/2006/main">
  <p:tag name="KSO_WM_BEAUTIFY_FLAG" val="#wm#"/>
  <p:tag name="KSO_WM_TEMPLATE_CATEGORY" val="custom"/>
  <p:tag name="KSO_WM_TEMPLATE_INDEX" val="2020508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1.xml><?xml version="1.0" encoding="utf-8"?>
<p:tagLst xmlns:p="http://schemas.openxmlformats.org/presentationml/2006/main">
  <p:tag name="KSO_WM_BEAUTIFY_FLAG" val="#wm#"/>
  <p:tag name="KSO_WM_TEMPLATE_CATEGORY" val="custom"/>
  <p:tag name="KSO_WM_TEMPLATE_INDEX" val="2020508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4.xml><?xml version="1.0" encoding="utf-8"?>
<p:tagLst xmlns:p="http://schemas.openxmlformats.org/presentationml/2006/main">
  <p:tag name="KSO_WM_BEAUTIFY_FLAG" val="#wm#"/>
  <p:tag name="KSO_WM_TEMPLATE_CATEGORY" val="custom"/>
  <p:tag name="KSO_WM_TEMPLATE_INDEX" val="2020508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7.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11264</Words>
  <Application>WPS Presentation</Application>
  <PresentationFormat>Widescreen</PresentationFormat>
  <Paragraphs>428</Paragraphs>
  <Slides>36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36</vt:i4>
      </vt:variant>
    </vt:vector>
  </HeadingPairs>
  <TitlesOfParts>
    <vt:vector size="45" baseType="lpstr">
      <vt:lpstr>Arial</vt:lpstr>
      <vt:lpstr>SimSun</vt:lpstr>
      <vt:lpstr>Wingdings</vt:lpstr>
      <vt:lpstr>Wingdings</vt:lpstr>
      <vt:lpstr>Microsoft YaHei</vt:lpstr>
      <vt:lpstr>Arial Unicode MS</vt:lpstr>
      <vt:lpstr>Calibri</vt:lpstr>
      <vt:lpstr>Tw Cen MT Condensed</vt:lpstr>
      <vt:lpstr>WPS</vt:lpstr>
      <vt:lpstr>PowerPoint 演示文稿</vt:lpstr>
      <vt:lpstr>PowerPoint 演示文稿</vt:lpstr>
      <vt:lpstr>EXECUTIVE SUMMARY</vt:lpstr>
      <vt:lpstr>INTRODUCTION</vt:lpstr>
      <vt:lpstr>METHODOLOGY</vt:lpstr>
      <vt:lpstr>METHODOLOGY 1</vt:lpstr>
      <vt:lpstr>METHODOLOGY    1    Data collection, wrangling and formating          </vt:lpstr>
      <vt:lpstr>PowerPoint 演示文稿</vt:lpstr>
      <vt:lpstr>PowerPoint 演示文稿</vt:lpstr>
      <vt:lpstr>PowerPoint 演示文稿</vt:lpstr>
      <vt:lpstr>PowerPoint 演示文稿</vt:lpstr>
      <vt:lpstr>PowerPoint 演示文稿</vt:lpstr>
      <vt:lpstr>PowerPoint 演示文稿</vt:lpstr>
      <vt:lpstr>RESULTS                 Data collection, wrangling and formating </vt:lpstr>
      <vt:lpstr>RESULTS                 Data collection, wrangling and formating </vt:lpstr>
      <vt:lpstr>RESULTS</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lpstr>RESULTS                 Data collection, wrangling and formating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
  <cp:lastModifiedBy>google1565286532</cp:lastModifiedBy>
  <cp:revision>9</cp:revision>
  <dcterms:created xsi:type="dcterms:W3CDTF">2026-08-09T06:44:01Z</dcterms:created>
  <dcterms:modified xsi:type="dcterms:W3CDTF">2026-08-09T15:34:48Z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311320C91C82494CA6B188D6E5020F3E_12</vt:lpwstr>
  </property>
</Properties>
</file>